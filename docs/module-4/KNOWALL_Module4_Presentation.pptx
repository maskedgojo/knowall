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module: Module 4 adds a neighbourhood layer to KNOWALL. Residents get a directory of nearby essential services they can trust, and a way to report when something is wrong. A dedicated Locality Coordinator keeps it correct. Everything shown in the demo is fictional demonstration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problem. Directories go out of date quietly. Residents are the first to notice, but usually have no way to fix anything. And changes need accountability: who changed it, why, and based on what source. Then state the goal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six feature areas quickly; each is shown in detail later. Mention that the directory is seeded with 16 fictional listings in 6 categories for the demo.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architecture. The browser talks to Next.js, which proxies /api to Flask. The locality blueprint is self-contained and reuses Module 1 for authentication, roles and the audit log. Modules 1 to 3 were not rewritten; the only change to an existing table is widening the role column.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design decision: managing the locality is a separate job. A new role, LOCALITY_COORDINATOR, holds locality.manage. The Society Admin can read and share opted-in society events, but opening the coordinator desk is refused by the API with 403.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Places carry verification fields and a version number. Corrections store the value at the time of the report, so the coordinator can see whether the listing already changed. History tables are append-only. Existing modules are untouched except the role column, widened from 16 to 30 characters so the new role name fits.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resident directory. Every listing shows a badge computed from stored data on each read. A listing verified more than 180 days ago shows Needs re-verification and a warning to call ahead, but it is never silently hidden. The map is schematic: it shows distance and direction from the society, not real streets, because the data is fictional.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state machine. A report is PENDING until the coordinator decides. Asking for clarification sends it back to the resident, who can reply with an updated proposal. Approving applies only the reported field and records a correction-review verification for that field 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or screenshot. Log in as rahul@greenvalley.test, open Meadow Care Pharmacy (demo), click Report outdated information, pick Phone number is wrong, enter the new number and a reason. The reason is mandatory; an evidence link is optional. Limits: one open report per field per resident, and at most ten open reports.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in as kavya@greenvalley.test and open Corrections. The queue shows a competing report from Amit on the same field. The panel compares the value when Rahul reported, the value published now and the proposed value. Kavya writes the reason and approves.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approval the listing shows the new number and the public history shows Correction Applied. Rahul sees Approved and the coordinator's reason in My corrections, but not the reviewer's name. The local feed shows Listing corrected.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Events: residents suggest events, which stay pending until the coordinator publishes them. A Module 3 society event reaches the locality only through four independent checks, and RSVPs and capacity are never shared. Alerts carry a named source, are published by a recorded reviewer, expire automatically and are archived with a reason.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safeguards. Permissions are enforced on the server for every endpoint; the UI only mirrors them. Writes reuse Module 1's session and CSRF protection. Reporters never learn who reviewed their report. Every change is versioned and audited.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were produced by running the suites. 250 backend tests include the 15 new Module 4 tests; 92 frontend tests include 12 new ones. The end-to-end script runs the full resident to coordinator demo over HTTP. The migration was applied to the real PostgreSQL database with no drift.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scope. The map is schematic on purpose because the data is fictional. There are no notifications yet because the platform has no notification contract, the same as Modules 2 and 3. The rest are natural extensions.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invite questions. Offer to run the live demo with the three demo accounts. Remind them that all locality data is fictional.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B3C"/>
        </a:solidFill>
        <a:effectLst/>
      </p:bgPr>
    </p:bg>
    <p:spTree>
      <p:nvGrpSpPr>
        <p:cNvPr id="1" name=""/>
        <p:cNvGrpSpPr/>
        <p:nvPr/>
      </p:nvGrpSpPr>
      <p:grpSpPr/>
      <p:sp>
        <p:nvSpPr>
          <p:cNvPr id="2" name="TextBox 1"/>
          <p:cNvSpPr txBox="1"/>
          <p:nvPr/>
        </p:nvSpPr>
        <p:spPr>
          <a:xfrm>
            <a:off x="731520" y="1097280"/>
            <a:ext cx="7315200" cy="365760"/>
          </a:xfrm>
          <a:prstGeom prst="rect">
            <a:avLst/>
          </a:prstGeom>
          <a:noFill/>
        </p:spPr>
        <p:txBody>
          <a:bodyPr wrap="square" lIns="0" rIns="0" tIns="0" bIns="0" anchor="t">
            <a:spAutoFit/>
          </a:bodyPr>
          <a:lstStyle/>
          <a:p>
            <a:pPr algn="l">
              <a:spcAft>
                <a:spcPts val="0"/>
              </a:spcAft>
            </a:pPr>
            <a:r>
              <a:rPr sz="1600" b="1" i="0">
                <a:solidFill>
                  <a:srgbClr val="C9E4DD"/>
                </a:solidFill>
                <a:latin typeface="Calibri"/>
              </a:rPr>
              <a:t>KNOWALL  ·  MODULE 4</a:t>
            </a:r>
          </a:p>
        </p:txBody>
      </p:sp>
      <p:sp>
        <p:nvSpPr>
          <p:cNvPr id="3" name="TextBox 2"/>
          <p:cNvSpPr txBox="1"/>
          <p:nvPr/>
        </p:nvSpPr>
        <p:spPr>
          <a:xfrm>
            <a:off x="731520" y="1600200"/>
            <a:ext cx="7498079" cy="2103120"/>
          </a:xfrm>
          <a:prstGeom prst="rect">
            <a:avLst/>
          </a:prstGeom>
          <a:noFill/>
        </p:spPr>
        <p:txBody>
          <a:bodyPr wrap="square" lIns="0" rIns="0" tIns="0" bIns="0" anchor="t">
            <a:spAutoFit/>
          </a:bodyPr>
          <a:lstStyle/>
          <a:p>
            <a:pPr algn="l">
              <a:spcAft>
                <a:spcPts val="0"/>
              </a:spcAft>
            </a:pPr>
            <a:r>
              <a:rPr sz="4600" b="1" i="0">
                <a:solidFill>
                  <a:srgbClr val="FFFFFF"/>
                </a:solidFill>
                <a:latin typeface="Calibri"/>
              </a:rPr>
              <a:t>Locality Intelligence &amp; Community Discovery</a:t>
            </a:r>
          </a:p>
        </p:txBody>
      </p:sp>
      <p:sp>
        <p:nvSpPr>
          <p:cNvPr id="4" name="TextBox 3"/>
          <p:cNvSpPr txBox="1"/>
          <p:nvPr/>
        </p:nvSpPr>
        <p:spPr>
          <a:xfrm>
            <a:off x="731520" y="3794760"/>
            <a:ext cx="7132320" cy="914400"/>
          </a:xfrm>
          <a:prstGeom prst="rect">
            <a:avLst/>
          </a:prstGeom>
          <a:noFill/>
        </p:spPr>
        <p:txBody>
          <a:bodyPr wrap="square" lIns="0" rIns="0" tIns="0" bIns="0" anchor="t">
            <a:spAutoFit/>
          </a:bodyPr>
          <a:lstStyle/>
          <a:p>
            <a:pPr algn="l">
              <a:spcAft>
                <a:spcPts val="0"/>
              </a:spcAft>
            </a:pPr>
            <a:r>
              <a:rPr sz="2000" b="0" i="0">
                <a:solidFill>
                  <a:srgbClr val="C9E4DD"/>
                </a:solidFill>
                <a:latin typeface="Calibri"/>
              </a:rPr>
              <a:t>A verified neighbourhood directory, resident corrections, and moderated local events and alerts</a:t>
            </a:r>
          </a:p>
        </p:txBody>
      </p:sp>
      <p:sp>
        <p:nvSpPr>
          <p:cNvPr id="5" name="TextBox 4"/>
          <p:cNvSpPr txBox="1"/>
          <p:nvPr/>
        </p:nvSpPr>
        <p:spPr>
          <a:xfrm>
            <a:off x="731520" y="5760720"/>
            <a:ext cx="7315200" cy="365760"/>
          </a:xfrm>
          <a:prstGeom prst="rect">
            <a:avLst/>
          </a:prstGeom>
          <a:noFill/>
        </p:spPr>
        <p:txBody>
          <a:bodyPr wrap="square" lIns="0" rIns="0" tIns="0" bIns="0" anchor="t">
            <a:spAutoFit/>
          </a:bodyPr>
          <a:lstStyle/>
          <a:p>
            <a:pPr algn="l">
              <a:spcAft>
                <a:spcPts val="0"/>
              </a:spcAft>
            </a:pPr>
            <a:r>
              <a:rPr sz="1500" b="0" i="0">
                <a:solidFill>
                  <a:srgbClr val="C9E4DD"/>
                </a:solidFill>
                <a:latin typeface="Calibri"/>
              </a:rPr>
              <a:t>Project presentation  ·  October 2026</a:t>
            </a:r>
          </a:p>
        </p:txBody>
      </p:sp>
      <p:sp>
        <p:nvSpPr>
          <p:cNvPr id="6" name="Rounded Rectangle 5"/>
          <p:cNvSpPr/>
          <p:nvPr/>
        </p:nvSpPr>
        <p:spPr>
          <a:xfrm>
            <a:off x="8842248" y="566928"/>
            <a:ext cx="2723741" cy="5724144"/>
          </a:xfrm>
          <a:prstGeom prst="roundRect">
            <a:avLst>
              <a:gd name="adj" fmla="val 6000"/>
            </a:avLst>
          </a:prstGeom>
          <a:solidFill>
            <a:srgbClr val="2A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hone screenshot" descr="m_directory.png"/>
          <p:cNvPicPr>
            <a:picLocks noChangeAspect="1"/>
          </p:cNvPicPr>
          <p:nvPr/>
        </p:nvPicPr>
        <p:blipFill>
          <a:blip r:embed="rId3"/>
          <a:stretch>
            <a:fillRect/>
          </a:stretch>
        </p:blipFill>
        <p:spPr>
          <a:xfrm>
            <a:off x="8915400" y="640080"/>
            <a:ext cx="2577437" cy="5577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Why a locality module</a:t>
            </a:r>
          </a:p>
        </p:txBody>
      </p:sp>
      <p:sp>
        <p:nvSpPr>
          <p:cNvPr id="3" name="TextBox 2"/>
          <p:cNvSpPr txBox="1"/>
          <p:nvPr/>
        </p:nvSpPr>
        <p:spPr>
          <a:xfrm>
            <a:off x="548640" y="987552"/>
            <a:ext cx="11064240" cy="365760"/>
          </a:xfrm>
          <a:prstGeom prst="rect">
            <a:avLst/>
          </a:prstGeom>
          <a:noFill/>
        </p:spPr>
        <p:txBody>
          <a:bodyPr wrap="square" lIns="0" rIns="0" tIns="0" bIns="0" anchor="t">
            <a:spAutoFit/>
          </a:bodyPr>
          <a:lstStyle/>
          <a:p>
            <a:pPr algn="l">
              <a:spcAft>
                <a:spcPts val="0"/>
              </a:spcAft>
            </a:pPr>
            <a:r>
              <a:rPr sz="1600" b="0" i="0">
                <a:solidFill>
                  <a:srgbClr val="5B6B70"/>
                </a:solidFill>
                <a:latin typeface="Calibri"/>
              </a:rPr>
              <a:t>Residents need reliable information about the neighbourhood around their society</a:t>
            </a:r>
          </a:p>
        </p:txBody>
      </p:sp>
      <p:sp>
        <p:nvSpPr>
          <p:cNvPr id="4" name="TextBox 3"/>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5" name="TextBox 4"/>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2 / 16</a:t>
            </a:r>
          </a:p>
        </p:txBody>
      </p:sp>
      <p:sp>
        <p:nvSpPr>
          <p:cNvPr id="6" name="Rounded Rectangle 5"/>
          <p:cNvSpPr/>
          <p:nvPr/>
        </p:nvSpPr>
        <p:spPr>
          <a:xfrm>
            <a:off x="548640" y="1645920"/>
            <a:ext cx="3520440" cy="27432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192024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92024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1</a:t>
            </a:r>
          </a:p>
        </p:txBody>
      </p:sp>
      <p:sp>
        <p:nvSpPr>
          <p:cNvPr id="9" name="TextBox 8"/>
          <p:cNvSpPr txBox="1"/>
          <p:nvPr/>
        </p:nvSpPr>
        <p:spPr>
          <a:xfrm>
            <a:off x="822959" y="251460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Information goes stale</a:t>
            </a:r>
          </a:p>
        </p:txBody>
      </p:sp>
      <p:sp>
        <p:nvSpPr>
          <p:cNvPr id="10" name="TextBox 9"/>
          <p:cNvSpPr txBox="1"/>
          <p:nvPr/>
        </p:nvSpPr>
        <p:spPr>
          <a:xfrm>
            <a:off x="822959" y="2971800"/>
            <a:ext cx="2971800" cy="1280160"/>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Phone numbers change and shops move. A directory nobody maintains quietly becomes wrong.</a:t>
            </a:r>
          </a:p>
        </p:txBody>
      </p:sp>
      <p:sp>
        <p:nvSpPr>
          <p:cNvPr id="11" name="Rounded Rectangle 10"/>
          <p:cNvSpPr/>
          <p:nvPr/>
        </p:nvSpPr>
        <p:spPr>
          <a:xfrm>
            <a:off x="4343400" y="1645920"/>
            <a:ext cx="3520440" cy="27432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17720" y="192024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92024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2</a:t>
            </a:r>
          </a:p>
        </p:txBody>
      </p:sp>
      <p:sp>
        <p:nvSpPr>
          <p:cNvPr id="14" name="TextBox 13"/>
          <p:cNvSpPr txBox="1"/>
          <p:nvPr/>
        </p:nvSpPr>
        <p:spPr>
          <a:xfrm>
            <a:off x="4617720" y="251460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Residents notice first</a:t>
            </a:r>
          </a:p>
        </p:txBody>
      </p:sp>
      <p:sp>
        <p:nvSpPr>
          <p:cNvPr id="15" name="TextBox 14"/>
          <p:cNvSpPr txBox="1"/>
          <p:nvPr/>
        </p:nvSpPr>
        <p:spPr>
          <a:xfrm>
            <a:off x="4617720" y="2971800"/>
            <a:ext cx="2971800" cy="1280160"/>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The people who call the pharmacy know the number is dead, but have no way to fix the listing.</a:t>
            </a:r>
          </a:p>
        </p:txBody>
      </p:sp>
      <p:sp>
        <p:nvSpPr>
          <p:cNvPr id="16" name="Rounded Rectangle 15"/>
          <p:cNvSpPr/>
          <p:nvPr/>
        </p:nvSpPr>
        <p:spPr>
          <a:xfrm>
            <a:off x="8138160" y="1645920"/>
            <a:ext cx="3520440" cy="27432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2480" y="192024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192024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3</a:t>
            </a:r>
          </a:p>
        </p:txBody>
      </p:sp>
      <p:sp>
        <p:nvSpPr>
          <p:cNvPr id="19" name="TextBox 18"/>
          <p:cNvSpPr txBox="1"/>
          <p:nvPr/>
        </p:nvSpPr>
        <p:spPr>
          <a:xfrm>
            <a:off x="8412480" y="251460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Trust needs accountability</a:t>
            </a:r>
          </a:p>
        </p:txBody>
      </p:sp>
      <p:sp>
        <p:nvSpPr>
          <p:cNvPr id="20" name="TextBox 19"/>
          <p:cNvSpPr txBox="1"/>
          <p:nvPr/>
        </p:nvSpPr>
        <p:spPr>
          <a:xfrm>
            <a:off x="8412480" y="2971800"/>
            <a:ext cx="2971800" cy="1280160"/>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Every change should have a source, a reviewer, a reason and a history, never a silent edit.</a:t>
            </a:r>
          </a:p>
        </p:txBody>
      </p:sp>
      <p:sp>
        <p:nvSpPr>
          <p:cNvPr id="21" name="Rounded Rectangle 20"/>
          <p:cNvSpPr/>
          <p:nvPr/>
        </p:nvSpPr>
        <p:spPr>
          <a:xfrm>
            <a:off x="548640" y="4754880"/>
            <a:ext cx="11064240" cy="1234440"/>
          </a:xfrm>
          <a:prstGeom prst="roundRect">
            <a:avLst>
              <a:gd name="adj" fmla="val 6000"/>
            </a:avLst>
          </a:prstGeom>
          <a:solidFill>
            <a:srgbClr val="0B3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754880"/>
            <a:ext cx="10332720" cy="1234440"/>
          </a:xfrm>
          <a:prstGeom prst="rect">
            <a:avLst/>
          </a:prstGeom>
          <a:noFill/>
        </p:spPr>
        <p:txBody>
          <a:bodyPr wrap="square" lIns="0" rIns="0" tIns="0" bIns="0" anchor="ctr">
            <a:spAutoFit/>
          </a:bodyPr>
          <a:lstStyle/>
          <a:p>
            <a:pPr algn="l">
              <a:spcAft>
                <a:spcPts val="0"/>
              </a:spcAft>
            </a:pPr>
            <a:r>
              <a:rPr sz="2000" b="1" i="0">
                <a:solidFill>
                  <a:srgbClr val="C9E4DD"/>
                </a:solidFill>
                <a:latin typeface="Calibri"/>
              </a:rPr>
              <a:t>Goal  </a:t>
            </a:r>
            <a:r>
              <a:rPr sz="2000" b="0" i="0">
                <a:solidFill>
                  <a:srgbClr val="FFFFFF"/>
                </a:solidFill>
                <a:latin typeface="Calibri"/>
              </a:rPr>
              <a:t>Give residents a trustworthy view of their neighbourhood, and a fair, recorded way to keep it correct.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What Module 4 delivers</a:t>
            </a:r>
          </a:p>
        </p:txBody>
      </p:sp>
      <p:sp>
        <p:nvSpPr>
          <p:cNvPr id="3" name="TextBox 2"/>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4" name="TextBox 3"/>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3 / 16</a:t>
            </a:r>
          </a:p>
        </p:txBody>
      </p:sp>
      <p:sp>
        <p:nvSpPr>
          <p:cNvPr id="5" name="Rounded Rectangle 4"/>
          <p:cNvSpPr/>
          <p:nvPr/>
        </p:nvSpPr>
        <p:spPr>
          <a:xfrm>
            <a:off x="548640" y="1325880"/>
            <a:ext cx="3520440" cy="22860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160020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0020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1</a:t>
            </a:r>
          </a:p>
        </p:txBody>
      </p:sp>
      <p:sp>
        <p:nvSpPr>
          <p:cNvPr id="8" name="TextBox 7"/>
          <p:cNvSpPr txBox="1"/>
          <p:nvPr/>
        </p:nvSpPr>
        <p:spPr>
          <a:xfrm>
            <a:off x="822959" y="219456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Services directory</a:t>
            </a:r>
          </a:p>
        </p:txBody>
      </p:sp>
      <p:sp>
        <p:nvSpPr>
          <p:cNvPr id="9" name="TextBox 8"/>
          <p:cNvSpPr txBox="1"/>
          <p:nvPr/>
        </p:nvSpPr>
        <p:spPr>
          <a:xfrm>
            <a:off x="822959" y="2651760"/>
            <a:ext cx="2971800" cy="822959"/>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16 fictional demo listings in 6 categories, with search, a category filter and a schematic coverage map.</a:t>
            </a:r>
          </a:p>
        </p:txBody>
      </p:sp>
      <p:sp>
        <p:nvSpPr>
          <p:cNvPr id="10" name="Rounded Rectangle 9"/>
          <p:cNvSpPr/>
          <p:nvPr/>
        </p:nvSpPr>
        <p:spPr>
          <a:xfrm>
            <a:off x="4343400" y="1325880"/>
            <a:ext cx="3520440" cy="22860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17720" y="160020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60020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2</a:t>
            </a:r>
          </a:p>
        </p:txBody>
      </p:sp>
      <p:sp>
        <p:nvSpPr>
          <p:cNvPr id="13" name="TextBox 12"/>
          <p:cNvSpPr txBox="1"/>
          <p:nvPr/>
        </p:nvSpPr>
        <p:spPr>
          <a:xfrm>
            <a:off x="4617720" y="219456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Verification badges</a:t>
            </a:r>
          </a:p>
        </p:txBody>
      </p:sp>
      <p:sp>
        <p:nvSpPr>
          <p:cNvPr id="14" name="TextBox 13"/>
          <p:cNvSpPr txBox="1"/>
          <p:nvPr/>
        </p:nvSpPr>
        <p:spPr>
          <a:xfrm>
            <a:off x="4617720" y="2651760"/>
            <a:ext cx="2971800" cy="822959"/>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Verified, Needs re-verification, Not yet verified or Flagged for recheck, computed on every read.</a:t>
            </a:r>
          </a:p>
        </p:txBody>
      </p:sp>
      <p:sp>
        <p:nvSpPr>
          <p:cNvPr id="15" name="Rounded Rectangle 14"/>
          <p:cNvSpPr/>
          <p:nvPr/>
        </p:nvSpPr>
        <p:spPr>
          <a:xfrm>
            <a:off x="8138160" y="1325880"/>
            <a:ext cx="3520440" cy="22860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12480" y="160020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160020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3</a:t>
            </a:r>
          </a:p>
        </p:txBody>
      </p:sp>
      <p:sp>
        <p:nvSpPr>
          <p:cNvPr id="18" name="TextBox 17"/>
          <p:cNvSpPr txBox="1"/>
          <p:nvPr/>
        </p:nvSpPr>
        <p:spPr>
          <a:xfrm>
            <a:off x="8412480" y="219456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Resident corrections</a:t>
            </a:r>
          </a:p>
        </p:txBody>
      </p:sp>
      <p:sp>
        <p:nvSpPr>
          <p:cNvPr id="19" name="TextBox 18"/>
          <p:cNvSpPr txBox="1"/>
          <p:nvPr/>
        </p:nvSpPr>
        <p:spPr>
          <a:xfrm>
            <a:off x="8412480" y="2651760"/>
            <a:ext cx="2971800" cy="822959"/>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Report outdated information with a reason, then follow the outcome in My corrections.</a:t>
            </a:r>
          </a:p>
        </p:txBody>
      </p:sp>
      <p:sp>
        <p:nvSpPr>
          <p:cNvPr id="20" name="Rounded Rectangle 19"/>
          <p:cNvSpPr/>
          <p:nvPr/>
        </p:nvSpPr>
        <p:spPr>
          <a:xfrm>
            <a:off x="548640" y="3840480"/>
            <a:ext cx="3520440" cy="22860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959" y="411480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411480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4</a:t>
            </a:r>
          </a:p>
        </p:txBody>
      </p:sp>
      <p:sp>
        <p:nvSpPr>
          <p:cNvPr id="23" name="TextBox 22"/>
          <p:cNvSpPr txBox="1"/>
          <p:nvPr/>
        </p:nvSpPr>
        <p:spPr>
          <a:xfrm>
            <a:off x="822959" y="470916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Coordinator review</a:t>
            </a:r>
          </a:p>
        </p:txBody>
      </p:sp>
      <p:sp>
        <p:nvSpPr>
          <p:cNvPr id="24" name="TextBox 23"/>
          <p:cNvSpPr txBox="1"/>
          <p:nvPr/>
        </p:nvSpPr>
        <p:spPr>
          <a:xfrm>
            <a:off x="822959" y="5166360"/>
            <a:ext cx="2971800" cy="822959"/>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Compare reported, current and proposed values; approve, reject or ask for clarification.</a:t>
            </a:r>
          </a:p>
        </p:txBody>
      </p:sp>
      <p:sp>
        <p:nvSpPr>
          <p:cNvPr id="25" name="Rounded Rectangle 24"/>
          <p:cNvSpPr/>
          <p:nvPr/>
        </p:nvSpPr>
        <p:spPr>
          <a:xfrm>
            <a:off x="4343400" y="3840480"/>
            <a:ext cx="3520440" cy="22860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617720" y="411480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17720" y="411480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5</a:t>
            </a:r>
          </a:p>
        </p:txBody>
      </p:sp>
      <p:sp>
        <p:nvSpPr>
          <p:cNvPr id="28" name="TextBox 27"/>
          <p:cNvSpPr txBox="1"/>
          <p:nvPr/>
        </p:nvSpPr>
        <p:spPr>
          <a:xfrm>
            <a:off x="4617720" y="470916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Local events</a:t>
            </a:r>
          </a:p>
        </p:txBody>
      </p:sp>
      <p:sp>
        <p:nvSpPr>
          <p:cNvPr id="29" name="TextBox 28"/>
          <p:cNvSpPr txBox="1"/>
          <p:nvPr/>
        </p:nvSpPr>
        <p:spPr>
          <a:xfrm>
            <a:off x="4617720" y="5166360"/>
            <a:ext cx="2971800" cy="822959"/>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Resident suggestions and opted-in society events, published only after review.</a:t>
            </a:r>
          </a:p>
        </p:txBody>
      </p:sp>
      <p:sp>
        <p:nvSpPr>
          <p:cNvPr id="30" name="Rounded Rectangle 29"/>
          <p:cNvSpPr/>
          <p:nvPr/>
        </p:nvSpPr>
        <p:spPr>
          <a:xfrm>
            <a:off x="8138160" y="3840480"/>
            <a:ext cx="3520440" cy="22860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412480" y="411480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0" y="411480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6</a:t>
            </a:r>
          </a:p>
        </p:txBody>
      </p:sp>
      <p:sp>
        <p:nvSpPr>
          <p:cNvPr id="33" name="TextBox 32"/>
          <p:cNvSpPr txBox="1"/>
          <p:nvPr/>
        </p:nvSpPr>
        <p:spPr>
          <a:xfrm>
            <a:off x="8412480" y="470916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Alerts, feed and reports</a:t>
            </a:r>
          </a:p>
        </p:txBody>
      </p:sp>
      <p:sp>
        <p:nvSpPr>
          <p:cNvPr id="34" name="TextBox 33"/>
          <p:cNvSpPr txBox="1"/>
          <p:nvPr/>
        </p:nvSpPr>
        <p:spPr>
          <a:xfrm>
            <a:off x="8412480" y="5166360"/>
            <a:ext cx="2971800" cy="822959"/>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Sourced alerts that expire, a combined local feed, and content reports for moderation.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How it fits into KNOWALL</a:t>
            </a:r>
          </a:p>
        </p:txBody>
      </p:sp>
      <p:sp>
        <p:nvSpPr>
          <p:cNvPr id="3" name="TextBox 2"/>
          <p:cNvSpPr txBox="1"/>
          <p:nvPr/>
        </p:nvSpPr>
        <p:spPr>
          <a:xfrm>
            <a:off x="548640" y="987552"/>
            <a:ext cx="11064240" cy="365760"/>
          </a:xfrm>
          <a:prstGeom prst="rect">
            <a:avLst/>
          </a:prstGeom>
          <a:noFill/>
        </p:spPr>
        <p:txBody>
          <a:bodyPr wrap="square" lIns="0" rIns="0" tIns="0" bIns="0" anchor="t">
            <a:spAutoFit/>
          </a:bodyPr>
          <a:lstStyle/>
          <a:p>
            <a:pPr algn="l">
              <a:spcAft>
                <a:spcPts val="0"/>
              </a:spcAft>
            </a:pPr>
            <a:r>
              <a:rPr sz="1600" b="0" i="0">
                <a:solidFill>
                  <a:srgbClr val="5B6B70"/>
                </a:solidFill>
                <a:latin typeface="Calibri"/>
              </a:rPr>
              <a:t>A new Flask blueprint and Next.js pages, built on Module 1 identity, roles and audit</a:t>
            </a:r>
          </a:p>
        </p:txBody>
      </p:sp>
      <p:sp>
        <p:nvSpPr>
          <p:cNvPr id="4" name="TextBox 3"/>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5" name="TextBox 4"/>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4 / 16</a:t>
            </a:r>
          </a:p>
        </p:txBody>
      </p:sp>
      <p:pic>
        <p:nvPicPr>
          <p:cNvPr id="6" name="diagram arch" descr="arch.png"/>
          <p:cNvPicPr>
            <a:picLocks noChangeAspect="1"/>
          </p:cNvPicPr>
          <p:nvPr/>
        </p:nvPicPr>
        <p:blipFill>
          <a:blip r:embed="rId3"/>
          <a:stretch>
            <a:fillRect/>
          </a:stretch>
        </p:blipFill>
        <p:spPr>
          <a:xfrm>
            <a:off x="548640" y="1600200"/>
            <a:ext cx="7589520" cy="3700675"/>
          </a:xfrm>
          <a:prstGeom prst="rect">
            <a:avLst/>
          </a:prstGeom>
        </p:spPr>
      </p:pic>
      <p:sp>
        <p:nvSpPr>
          <p:cNvPr id="7" name="Rounded Rectangle 6"/>
          <p:cNvSpPr/>
          <p:nvPr/>
        </p:nvSpPr>
        <p:spPr>
          <a:xfrm>
            <a:off x="8503920" y="1600200"/>
            <a:ext cx="3108960" cy="96012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600200"/>
            <a:ext cx="1005840" cy="960120"/>
          </a:xfrm>
          <a:prstGeom prst="rect">
            <a:avLst/>
          </a:prstGeom>
          <a:noFill/>
        </p:spPr>
        <p:txBody>
          <a:bodyPr wrap="square" lIns="0" rIns="0" tIns="0" bIns="0" anchor="ctr">
            <a:spAutoFit/>
          </a:bodyPr>
          <a:lstStyle/>
          <a:p>
            <a:pPr algn="l">
              <a:spcAft>
                <a:spcPts val="0"/>
              </a:spcAft>
            </a:pPr>
            <a:r>
              <a:rPr sz="3400" b="1" i="0">
                <a:solidFill>
                  <a:srgbClr val="0F7B6C"/>
                </a:solidFill>
                <a:latin typeface="Calibri"/>
              </a:rPr>
              <a:t>37</a:t>
            </a:r>
          </a:p>
        </p:txBody>
      </p:sp>
      <p:sp>
        <p:nvSpPr>
          <p:cNvPr id="9" name="TextBox 8"/>
          <p:cNvSpPr txBox="1"/>
          <p:nvPr/>
        </p:nvSpPr>
        <p:spPr>
          <a:xfrm>
            <a:off x="9692640" y="1600200"/>
            <a:ext cx="1783080" cy="960120"/>
          </a:xfrm>
          <a:prstGeom prst="rect">
            <a:avLst/>
          </a:prstGeom>
          <a:noFill/>
        </p:spPr>
        <p:txBody>
          <a:bodyPr wrap="square" lIns="0" rIns="0" tIns="0" bIns="0" anchor="ctr">
            <a:spAutoFit/>
          </a:bodyPr>
          <a:lstStyle/>
          <a:p>
            <a:pPr algn="l">
              <a:spcAft>
                <a:spcPts val="0"/>
              </a:spcAft>
            </a:pPr>
            <a:r>
              <a:rPr sz="1400" b="0" i="0">
                <a:solidFill>
                  <a:srgbClr val="1F2A30"/>
                </a:solidFill>
                <a:latin typeface="Calibri"/>
              </a:rPr>
              <a:t>API operations on 34 paths, in OpenAPI</a:t>
            </a:r>
          </a:p>
        </p:txBody>
      </p:sp>
      <p:sp>
        <p:nvSpPr>
          <p:cNvPr id="10" name="Rounded Rectangle 9"/>
          <p:cNvSpPr/>
          <p:nvPr/>
        </p:nvSpPr>
        <p:spPr>
          <a:xfrm>
            <a:off x="8503920" y="2743200"/>
            <a:ext cx="3108960" cy="96012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2743200"/>
            <a:ext cx="1005840" cy="960120"/>
          </a:xfrm>
          <a:prstGeom prst="rect">
            <a:avLst/>
          </a:prstGeom>
          <a:noFill/>
        </p:spPr>
        <p:txBody>
          <a:bodyPr wrap="square" lIns="0" rIns="0" tIns="0" bIns="0" anchor="ctr">
            <a:spAutoFit/>
          </a:bodyPr>
          <a:lstStyle/>
          <a:p>
            <a:pPr algn="l">
              <a:spcAft>
                <a:spcPts val="0"/>
              </a:spcAft>
            </a:pPr>
            <a:r>
              <a:rPr sz="3400" b="1" i="0">
                <a:solidFill>
                  <a:srgbClr val="0F7B6C"/>
                </a:solidFill>
                <a:latin typeface="Calibri"/>
              </a:rPr>
              <a:t>13</a:t>
            </a:r>
          </a:p>
        </p:txBody>
      </p:sp>
      <p:sp>
        <p:nvSpPr>
          <p:cNvPr id="12" name="TextBox 11"/>
          <p:cNvSpPr txBox="1"/>
          <p:nvPr/>
        </p:nvSpPr>
        <p:spPr>
          <a:xfrm>
            <a:off x="9692640" y="2743200"/>
            <a:ext cx="1783080" cy="960120"/>
          </a:xfrm>
          <a:prstGeom prst="rect">
            <a:avLst/>
          </a:prstGeom>
          <a:noFill/>
        </p:spPr>
        <p:txBody>
          <a:bodyPr wrap="square" lIns="0" rIns="0" tIns="0" bIns="0" anchor="ctr">
            <a:spAutoFit/>
          </a:bodyPr>
          <a:lstStyle/>
          <a:p>
            <a:pPr algn="l">
              <a:spcAft>
                <a:spcPts val="0"/>
              </a:spcAft>
            </a:pPr>
            <a:r>
              <a:rPr sz="1400" b="0" i="0">
                <a:solidFill>
                  <a:srgbClr val="1F2A30"/>
                </a:solidFill>
                <a:latin typeface="Calibri"/>
              </a:rPr>
              <a:t>Next.js routes under /locality</a:t>
            </a:r>
          </a:p>
        </p:txBody>
      </p:sp>
      <p:sp>
        <p:nvSpPr>
          <p:cNvPr id="13" name="Rounded Rectangle 12"/>
          <p:cNvSpPr/>
          <p:nvPr/>
        </p:nvSpPr>
        <p:spPr>
          <a:xfrm>
            <a:off x="8503920" y="3886200"/>
            <a:ext cx="3108960" cy="96012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0" y="3886200"/>
            <a:ext cx="1005840" cy="960120"/>
          </a:xfrm>
          <a:prstGeom prst="rect">
            <a:avLst/>
          </a:prstGeom>
          <a:noFill/>
        </p:spPr>
        <p:txBody>
          <a:bodyPr wrap="square" lIns="0" rIns="0" tIns="0" bIns="0" anchor="ctr">
            <a:spAutoFit/>
          </a:bodyPr>
          <a:lstStyle/>
          <a:p>
            <a:pPr algn="l">
              <a:spcAft>
                <a:spcPts val="0"/>
              </a:spcAft>
            </a:pPr>
            <a:r>
              <a:rPr sz="3400" b="1" i="0">
                <a:solidFill>
                  <a:srgbClr val="0F7B6C"/>
                </a:solidFill>
                <a:latin typeface="Calibri"/>
              </a:rPr>
              <a:t>9</a:t>
            </a:r>
          </a:p>
        </p:txBody>
      </p:sp>
      <p:sp>
        <p:nvSpPr>
          <p:cNvPr id="15" name="TextBox 14"/>
          <p:cNvSpPr txBox="1"/>
          <p:nvPr/>
        </p:nvSpPr>
        <p:spPr>
          <a:xfrm>
            <a:off x="9692640" y="3886200"/>
            <a:ext cx="1783080" cy="960120"/>
          </a:xfrm>
          <a:prstGeom prst="rect">
            <a:avLst/>
          </a:prstGeom>
          <a:noFill/>
        </p:spPr>
        <p:txBody>
          <a:bodyPr wrap="square" lIns="0" rIns="0" tIns="0" bIns="0" anchor="ctr">
            <a:spAutoFit/>
          </a:bodyPr>
          <a:lstStyle/>
          <a:p>
            <a:pPr algn="l">
              <a:spcAft>
                <a:spcPts val="0"/>
              </a:spcAft>
            </a:pPr>
            <a:r>
              <a:rPr sz="1400" b="0" i="0">
                <a:solidFill>
                  <a:srgbClr val="1F2A30"/>
                </a:solidFill>
                <a:latin typeface="Calibri"/>
              </a:rPr>
              <a:t>new tables, one additive migration</a:t>
            </a:r>
          </a:p>
        </p:txBody>
      </p:sp>
      <p:sp>
        <p:nvSpPr>
          <p:cNvPr id="16" name="Rounded Rectangle 15"/>
          <p:cNvSpPr/>
          <p:nvPr/>
        </p:nvSpPr>
        <p:spPr>
          <a:xfrm>
            <a:off x="8503920" y="5029200"/>
            <a:ext cx="3108960" cy="96012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5029200"/>
            <a:ext cx="1005840" cy="960120"/>
          </a:xfrm>
          <a:prstGeom prst="rect">
            <a:avLst/>
          </a:prstGeom>
          <a:noFill/>
        </p:spPr>
        <p:txBody>
          <a:bodyPr wrap="square" lIns="0" rIns="0" tIns="0" bIns="0" anchor="ctr">
            <a:spAutoFit/>
          </a:bodyPr>
          <a:lstStyle/>
          <a:p>
            <a:pPr algn="l">
              <a:spcAft>
                <a:spcPts val="0"/>
              </a:spcAft>
            </a:pPr>
            <a:r>
              <a:rPr sz="3400" b="1" i="0">
                <a:solidFill>
                  <a:srgbClr val="0F7B6C"/>
                </a:solidFill>
                <a:latin typeface="Calibri"/>
              </a:rPr>
              <a:t>6</a:t>
            </a:r>
          </a:p>
        </p:txBody>
      </p:sp>
      <p:sp>
        <p:nvSpPr>
          <p:cNvPr id="18" name="TextBox 17"/>
          <p:cNvSpPr txBox="1"/>
          <p:nvPr/>
        </p:nvSpPr>
        <p:spPr>
          <a:xfrm>
            <a:off x="9692640" y="5029200"/>
            <a:ext cx="1783080" cy="960120"/>
          </a:xfrm>
          <a:prstGeom prst="rect">
            <a:avLst/>
          </a:prstGeom>
          <a:noFill/>
        </p:spPr>
        <p:txBody>
          <a:bodyPr wrap="square" lIns="0" rIns="0" tIns="0" bIns="0" anchor="ctr">
            <a:spAutoFit/>
          </a:bodyPr>
          <a:lstStyle/>
          <a:p>
            <a:pPr algn="l">
              <a:spcAft>
                <a:spcPts val="0"/>
              </a:spcAft>
            </a:pPr>
            <a:r>
              <a:rPr sz="1400" b="0" i="0">
                <a:solidFill>
                  <a:srgbClr val="1F2A30"/>
                </a:solidFill>
                <a:latin typeface="Calibri"/>
              </a:rPr>
              <a:t>backend Python files in app/modules/locality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Three roles, least privilege</a:t>
            </a:r>
          </a:p>
        </p:txBody>
      </p:sp>
      <p:sp>
        <p:nvSpPr>
          <p:cNvPr id="3" name="TextBox 2"/>
          <p:cNvSpPr txBox="1"/>
          <p:nvPr/>
        </p:nvSpPr>
        <p:spPr>
          <a:xfrm>
            <a:off x="548640" y="987552"/>
            <a:ext cx="11064240" cy="365760"/>
          </a:xfrm>
          <a:prstGeom prst="rect">
            <a:avLst/>
          </a:prstGeom>
          <a:noFill/>
        </p:spPr>
        <p:txBody>
          <a:bodyPr wrap="square" lIns="0" rIns="0" tIns="0" bIns="0" anchor="t">
            <a:spAutoFit/>
          </a:bodyPr>
          <a:lstStyle/>
          <a:p>
            <a:pPr algn="l">
              <a:spcAft>
                <a:spcPts val="0"/>
              </a:spcAft>
            </a:pPr>
            <a:r>
              <a:rPr sz="1600" b="0" i="0">
                <a:solidFill>
                  <a:srgbClr val="5B6B70"/>
                </a:solidFill>
                <a:latin typeface="Calibri"/>
              </a:rPr>
              <a:t>A Society Admin does not automatically get locality powers</a:t>
            </a:r>
          </a:p>
        </p:txBody>
      </p:sp>
      <p:sp>
        <p:nvSpPr>
          <p:cNvPr id="4" name="TextBox 3"/>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5" name="TextBox 4"/>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5 / 16</a:t>
            </a:r>
          </a:p>
        </p:txBody>
      </p:sp>
      <p:sp>
        <p:nvSpPr>
          <p:cNvPr id="6" name="Rounded Rectangle 5"/>
          <p:cNvSpPr/>
          <p:nvPr/>
        </p:nvSpPr>
        <p:spPr>
          <a:xfrm>
            <a:off x="548640" y="1600200"/>
            <a:ext cx="3520440" cy="452628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83080"/>
            <a:ext cx="3017520" cy="457200"/>
          </a:xfrm>
          <a:prstGeom prst="rect">
            <a:avLst/>
          </a:prstGeom>
          <a:noFill/>
        </p:spPr>
        <p:txBody>
          <a:bodyPr wrap="square" lIns="0" rIns="0" tIns="0" bIns="0" anchor="t">
            <a:spAutoFit/>
          </a:bodyPr>
          <a:lstStyle/>
          <a:p>
            <a:pPr algn="l">
              <a:spcAft>
                <a:spcPts val="0"/>
              </a:spcAft>
            </a:pPr>
            <a:r>
              <a:rPr sz="2000" b="1" i="0">
                <a:solidFill>
                  <a:srgbClr val="0B3B3C"/>
                </a:solidFill>
                <a:latin typeface="Calibri"/>
              </a:rPr>
              <a:t>Resident</a:t>
            </a:r>
          </a:p>
        </p:txBody>
      </p:sp>
      <p:sp>
        <p:nvSpPr>
          <p:cNvPr id="8" name="Rounded Rectangle 7"/>
          <p:cNvSpPr/>
          <p:nvPr/>
        </p:nvSpPr>
        <p:spPr>
          <a:xfrm>
            <a:off x="822959" y="2377440"/>
            <a:ext cx="2971800" cy="34747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77440"/>
            <a:ext cx="2743200" cy="347472"/>
          </a:xfrm>
          <a:prstGeom prst="rect">
            <a:avLst/>
          </a:prstGeom>
          <a:noFill/>
        </p:spPr>
        <p:txBody>
          <a:bodyPr wrap="square" lIns="0" rIns="0" tIns="0" bIns="0" anchor="ctr">
            <a:spAutoFit/>
          </a:bodyPr>
          <a:lstStyle/>
          <a:p>
            <a:pPr algn="l">
              <a:spcAft>
                <a:spcPts val="0"/>
              </a:spcAft>
            </a:pPr>
            <a:r>
              <a:rPr sz="1300" b="0" i="0">
                <a:solidFill>
                  <a:srgbClr val="0F7B6C"/>
                </a:solidFill>
                <a:latin typeface="Consolas"/>
              </a:rPr>
              <a:t>locality.read</a:t>
            </a:r>
          </a:p>
        </p:txBody>
      </p:sp>
      <p:sp>
        <p:nvSpPr>
          <p:cNvPr id="10" name="Rounded Rectangle 9"/>
          <p:cNvSpPr/>
          <p:nvPr/>
        </p:nvSpPr>
        <p:spPr>
          <a:xfrm>
            <a:off x="822959" y="2816352"/>
            <a:ext cx="2971800" cy="34747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816352"/>
            <a:ext cx="2743200" cy="347472"/>
          </a:xfrm>
          <a:prstGeom prst="rect">
            <a:avLst/>
          </a:prstGeom>
          <a:noFill/>
        </p:spPr>
        <p:txBody>
          <a:bodyPr wrap="square" lIns="0" rIns="0" tIns="0" bIns="0" anchor="ctr">
            <a:spAutoFit/>
          </a:bodyPr>
          <a:lstStyle/>
          <a:p>
            <a:pPr algn="l">
              <a:spcAft>
                <a:spcPts val="0"/>
              </a:spcAft>
            </a:pPr>
            <a:r>
              <a:rPr sz="1300" b="0" i="0">
                <a:solidFill>
                  <a:srgbClr val="0F7B6C"/>
                </a:solidFill>
                <a:latin typeface="Consolas"/>
              </a:rPr>
              <a:t>locality.listings.suggest</a:t>
            </a:r>
          </a:p>
        </p:txBody>
      </p:sp>
      <p:sp>
        <p:nvSpPr>
          <p:cNvPr id="12" name="TextBox 11"/>
          <p:cNvSpPr txBox="1"/>
          <p:nvPr/>
        </p:nvSpPr>
        <p:spPr>
          <a:xfrm>
            <a:off x="822959" y="3483864"/>
            <a:ext cx="3017520" cy="2459736"/>
          </a:xfrm>
          <a:prstGeom prst="rect">
            <a:avLst/>
          </a:prstGeom>
          <a:noFill/>
        </p:spPr>
        <p:txBody>
          <a:bodyPr wrap="square" lIns="0" rIns="0" tIns="0" bIns="0" anchor="t">
            <a:spAutoFit/>
          </a:bodyPr>
          <a:lstStyle/>
          <a:p>
            <a:pPr algn="l">
              <a:spcAft>
                <a:spcPts val="600"/>
              </a:spcAft>
            </a:pPr>
            <a:r>
              <a:rPr sz="1500" b="0" i="0">
                <a:solidFill>
                  <a:srgbClr val="1F2A30"/>
                </a:solidFill>
                <a:latin typeface="Calibri"/>
              </a:rPr>
              <a:t>•  Browse directory, events, alerts and feed</a:t>
            </a:r>
          </a:p>
          <a:p>
            <a:pPr algn="l">
              <a:spcAft>
                <a:spcPts val="600"/>
              </a:spcAft>
            </a:pPr>
            <a:r>
              <a:rPr sz="1500" b="0" i="0">
                <a:solidFill>
                  <a:srgbClr val="1F2A30"/>
                </a:solidFill>
                <a:latin typeface="Calibri"/>
              </a:rPr>
              <a:t>•  Report outdated information</a:t>
            </a:r>
          </a:p>
          <a:p>
            <a:pPr algn="l">
              <a:spcAft>
                <a:spcPts val="600"/>
              </a:spcAft>
            </a:pPr>
            <a:r>
              <a:rPr sz="1500" b="0" i="0">
                <a:solidFill>
                  <a:srgbClr val="1F2A30"/>
                </a:solidFill>
                <a:latin typeface="Calibri"/>
              </a:rPr>
              <a:t>•  Suggest events and missing services</a:t>
            </a:r>
          </a:p>
          <a:p>
            <a:pPr algn="l">
              <a:spcAft>
                <a:spcPts val="600"/>
              </a:spcAft>
            </a:pPr>
            <a:r>
              <a:rPr sz="1500" b="0" i="0">
                <a:solidFill>
                  <a:srgbClr val="1F2A30"/>
                </a:solidFill>
                <a:latin typeface="Calibri"/>
              </a:rPr>
              <a:t>•  Report a problem with content</a:t>
            </a:r>
          </a:p>
        </p:txBody>
      </p:sp>
      <p:sp>
        <p:nvSpPr>
          <p:cNvPr id="13" name="Rounded Rectangle 12"/>
          <p:cNvSpPr/>
          <p:nvPr/>
        </p:nvSpPr>
        <p:spPr>
          <a:xfrm>
            <a:off x="4343400" y="1600200"/>
            <a:ext cx="3520440" cy="452628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783080"/>
            <a:ext cx="3017520" cy="457200"/>
          </a:xfrm>
          <a:prstGeom prst="rect">
            <a:avLst/>
          </a:prstGeom>
          <a:noFill/>
        </p:spPr>
        <p:txBody>
          <a:bodyPr wrap="square" lIns="0" rIns="0" tIns="0" bIns="0" anchor="t">
            <a:spAutoFit/>
          </a:bodyPr>
          <a:lstStyle/>
          <a:p>
            <a:pPr algn="l">
              <a:spcAft>
                <a:spcPts val="0"/>
              </a:spcAft>
            </a:pPr>
            <a:r>
              <a:rPr sz="2000" b="1" i="0">
                <a:solidFill>
                  <a:srgbClr val="0B3B3C"/>
                </a:solidFill>
                <a:latin typeface="Calibri"/>
              </a:rPr>
              <a:t>Society Admin</a:t>
            </a:r>
          </a:p>
        </p:txBody>
      </p:sp>
      <p:sp>
        <p:nvSpPr>
          <p:cNvPr id="15" name="Rounded Rectangle 14"/>
          <p:cNvSpPr/>
          <p:nvPr/>
        </p:nvSpPr>
        <p:spPr>
          <a:xfrm>
            <a:off x="4617720" y="2377440"/>
            <a:ext cx="2971800" cy="34747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2377440"/>
            <a:ext cx="2743200" cy="347472"/>
          </a:xfrm>
          <a:prstGeom prst="rect">
            <a:avLst/>
          </a:prstGeom>
          <a:noFill/>
        </p:spPr>
        <p:txBody>
          <a:bodyPr wrap="square" lIns="0" rIns="0" tIns="0" bIns="0" anchor="ctr">
            <a:spAutoFit/>
          </a:bodyPr>
          <a:lstStyle/>
          <a:p>
            <a:pPr algn="l">
              <a:spcAft>
                <a:spcPts val="0"/>
              </a:spcAft>
            </a:pPr>
            <a:r>
              <a:rPr sz="1300" b="0" i="0">
                <a:solidFill>
                  <a:srgbClr val="0F7B6C"/>
                </a:solidFill>
                <a:latin typeface="Consolas"/>
              </a:rPr>
              <a:t>locality.read</a:t>
            </a:r>
          </a:p>
        </p:txBody>
      </p:sp>
      <p:sp>
        <p:nvSpPr>
          <p:cNvPr id="17" name="TextBox 16"/>
          <p:cNvSpPr txBox="1"/>
          <p:nvPr/>
        </p:nvSpPr>
        <p:spPr>
          <a:xfrm>
            <a:off x="4617720" y="3044952"/>
            <a:ext cx="3017520" cy="2898648"/>
          </a:xfrm>
          <a:prstGeom prst="rect">
            <a:avLst/>
          </a:prstGeom>
          <a:noFill/>
        </p:spPr>
        <p:txBody>
          <a:bodyPr wrap="square" lIns="0" rIns="0" tIns="0" bIns="0" anchor="t">
            <a:spAutoFit/>
          </a:bodyPr>
          <a:lstStyle/>
          <a:p>
            <a:pPr algn="l">
              <a:spcAft>
                <a:spcPts val="600"/>
              </a:spcAft>
            </a:pPr>
            <a:r>
              <a:rPr sz="1500" b="0" i="0">
                <a:solidFill>
                  <a:srgbClr val="1F2A30"/>
                </a:solidFill>
                <a:latin typeface="Calibri"/>
              </a:rPr>
              <a:t>•  Browse like a resident</a:t>
            </a:r>
          </a:p>
          <a:p>
            <a:pPr algn="l">
              <a:spcAft>
                <a:spcPts val="600"/>
              </a:spcAft>
            </a:pPr>
            <a:r>
              <a:rPr sz="1500" b="0" i="0">
                <a:solidFill>
                  <a:srgbClr val="1F2A30"/>
                </a:solidFill>
                <a:latin typeface="Calibri"/>
              </a:rPr>
              <a:t>•  Share opted-in society events (never RSVPs or capacity)</a:t>
            </a:r>
          </a:p>
          <a:p>
            <a:pPr algn="l">
              <a:spcAft>
                <a:spcPts val="600"/>
              </a:spcAft>
            </a:pPr>
            <a:r>
              <a:rPr sz="1500" b="0" i="0">
                <a:solidFill>
                  <a:srgbClr val="1F2A30"/>
                </a:solidFill>
                <a:latin typeface="Calibri"/>
              </a:rPr>
              <a:t>•  Coordinator desk refused (403)</a:t>
            </a:r>
          </a:p>
        </p:txBody>
      </p:sp>
      <p:sp>
        <p:nvSpPr>
          <p:cNvPr id="18" name="Rounded Rectangle 17"/>
          <p:cNvSpPr/>
          <p:nvPr/>
        </p:nvSpPr>
        <p:spPr>
          <a:xfrm>
            <a:off x="8138160" y="1600200"/>
            <a:ext cx="3520440" cy="4526280"/>
          </a:xfrm>
          <a:prstGeom prst="roundRect">
            <a:avLst>
              <a:gd name="adj" fmla="val 6000"/>
            </a:avLst>
          </a:prstGeom>
          <a:solidFill>
            <a:srgbClr val="0B3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1783080"/>
            <a:ext cx="3017520" cy="457200"/>
          </a:xfrm>
          <a:prstGeom prst="rect">
            <a:avLst/>
          </a:prstGeom>
          <a:noFill/>
        </p:spPr>
        <p:txBody>
          <a:bodyPr wrap="square" lIns="0" rIns="0" tIns="0" bIns="0" anchor="t">
            <a:spAutoFit/>
          </a:bodyPr>
          <a:lstStyle/>
          <a:p>
            <a:pPr algn="l">
              <a:spcAft>
                <a:spcPts val="0"/>
              </a:spcAft>
            </a:pPr>
            <a:r>
              <a:rPr sz="2000" b="1" i="0">
                <a:solidFill>
                  <a:srgbClr val="FFFFFF"/>
                </a:solidFill>
                <a:latin typeface="Calibri"/>
              </a:rPr>
              <a:t>Locality Coordinator</a:t>
            </a:r>
          </a:p>
        </p:txBody>
      </p:sp>
      <p:sp>
        <p:nvSpPr>
          <p:cNvPr id="20" name="Rounded Rectangle 19"/>
          <p:cNvSpPr/>
          <p:nvPr/>
        </p:nvSpPr>
        <p:spPr>
          <a:xfrm>
            <a:off x="8412480" y="2377440"/>
            <a:ext cx="2971800" cy="347472"/>
          </a:xfrm>
          <a:prstGeom prst="roundRect">
            <a:avLst>
              <a:gd name="adj" fmla="val 30000"/>
            </a:avLst>
          </a:prstGeom>
          <a:solidFill>
            <a:srgbClr val="1C5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9640" y="2377440"/>
            <a:ext cx="2743200" cy="347472"/>
          </a:xfrm>
          <a:prstGeom prst="rect">
            <a:avLst/>
          </a:prstGeom>
          <a:noFill/>
        </p:spPr>
        <p:txBody>
          <a:bodyPr wrap="square" lIns="0" rIns="0" tIns="0" bIns="0" anchor="ctr">
            <a:spAutoFit/>
          </a:bodyPr>
          <a:lstStyle/>
          <a:p>
            <a:pPr algn="l">
              <a:spcAft>
                <a:spcPts val="0"/>
              </a:spcAft>
            </a:pPr>
            <a:r>
              <a:rPr sz="1300" b="0" i="0">
                <a:solidFill>
                  <a:srgbClr val="C9E4DD"/>
                </a:solidFill>
                <a:latin typeface="Consolas"/>
              </a:rPr>
              <a:t>locality.manage</a:t>
            </a:r>
          </a:p>
        </p:txBody>
      </p:sp>
      <p:sp>
        <p:nvSpPr>
          <p:cNvPr id="22" name="TextBox 21"/>
          <p:cNvSpPr txBox="1"/>
          <p:nvPr/>
        </p:nvSpPr>
        <p:spPr>
          <a:xfrm>
            <a:off x="8412480" y="3044952"/>
            <a:ext cx="3017520" cy="2898648"/>
          </a:xfrm>
          <a:prstGeom prst="rect">
            <a:avLst/>
          </a:prstGeom>
          <a:noFill/>
        </p:spPr>
        <p:txBody>
          <a:bodyPr wrap="square" lIns="0" rIns="0" tIns="0" bIns="0" anchor="t">
            <a:spAutoFit/>
          </a:bodyPr>
          <a:lstStyle/>
          <a:p>
            <a:pPr algn="l">
              <a:spcAft>
                <a:spcPts val="600"/>
              </a:spcAft>
            </a:pPr>
            <a:r>
              <a:rPr sz="1500" b="0" i="0">
                <a:solidFill>
                  <a:srgbClr val="FFFFFF"/>
                </a:solidFill>
                <a:latin typeface="Calibri"/>
              </a:rPr>
              <a:t>•  New role, granted separately</a:t>
            </a:r>
          </a:p>
          <a:p>
            <a:pPr algn="l">
              <a:spcAft>
                <a:spcPts val="600"/>
              </a:spcAft>
            </a:pPr>
            <a:r>
              <a:rPr sz="1500" b="0" i="0">
                <a:solidFill>
                  <a:srgbClr val="FFFFFF"/>
                </a:solidFill>
                <a:latin typeface="Calibri"/>
              </a:rPr>
              <a:t>•  Maintain and verify listings</a:t>
            </a:r>
          </a:p>
          <a:p>
            <a:pPr algn="l">
              <a:spcAft>
                <a:spcPts val="600"/>
              </a:spcAft>
            </a:pPr>
            <a:r>
              <a:rPr sz="1500" b="0" i="0">
                <a:solidFill>
                  <a:srgbClr val="FFFFFF"/>
                </a:solidFill>
                <a:latin typeface="Calibri"/>
              </a:rPr>
              <a:t>•  Review corrections with a reason</a:t>
            </a:r>
          </a:p>
          <a:p>
            <a:pPr algn="l">
              <a:spcAft>
                <a:spcPts val="600"/>
              </a:spcAft>
            </a:pPr>
            <a:r>
              <a:rPr sz="1500" b="0" i="0">
                <a:solidFill>
                  <a:srgbClr val="FFFFFF"/>
                </a:solidFill>
                <a:latin typeface="Calibri"/>
              </a:rPr>
              <a:t>•  Moderate events, alerts and reports</a:t>
            </a:r>
          </a:p>
          <a:p>
            <a:pPr algn="l">
              <a:spcAft>
                <a:spcPts val="600"/>
              </a:spcAft>
            </a:pPr>
            <a:r>
              <a:rPr sz="1500" b="0" i="0">
                <a:solidFill>
                  <a:srgbClr val="FFFFFF"/>
                </a:solidFill>
                <a:latin typeface="Calibri"/>
              </a:rPr>
              <a:t>•  Set coverage radius and re-verify period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Data model</a:t>
            </a:r>
          </a:p>
        </p:txBody>
      </p:sp>
      <p:sp>
        <p:nvSpPr>
          <p:cNvPr id="3" name="TextBox 2"/>
          <p:cNvSpPr txBox="1"/>
          <p:nvPr/>
        </p:nvSpPr>
        <p:spPr>
          <a:xfrm>
            <a:off x="548640" y="987552"/>
            <a:ext cx="11064240" cy="365760"/>
          </a:xfrm>
          <a:prstGeom prst="rect">
            <a:avLst/>
          </a:prstGeom>
          <a:noFill/>
        </p:spPr>
        <p:txBody>
          <a:bodyPr wrap="square" lIns="0" rIns="0" tIns="0" bIns="0" anchor="t">
            <a:spAutoFit/>
          </a:bodyPr>
          <a:lstStyle/>
          <a:p>
            <a:pPr algn="l">
              <a:spcAft>
                <a:spcPts val="0"/>
              </a:spcAft>
            </a:pPr>
            <a:r>
              <a:rPr sz="1600" b="0" i="0">
                <a:solidFill>
                  <a:srgbClr val="5B6B70"/>
                </a:solidFill>
                <a:latin typeface="Calibri"/>
              </a:rPr>
              <a:t>Nine new tables, added by one reversible migration</a:t>
            </a:r>
          </a:p>
        </p:txBody>
      </p:sp>
      <p:sp>
        <p:nvSpPr>
          <p:cNvPr id="4" name="TextBox 3"/>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5" name="TextBox 4"/>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6 / 16</a:t>
            </a:r>
          </a:p>
        </p:txBody>
      </p:sp>
      <p:pic>
        <p:nvPicPr>
          <p:cNvPr id="6" name="diagram erd" descr="erd.png"/>
          <p:cNvPicPr>
            <a:picLocks noChangeAspect="1"/>
          </p:cNvPicPr>
          <p:nvPr/>
        </p:nvPicPr>
        <p:blipFill>
          <a:blip r:embed="rId3"/>
          <a:stretch>
            <a:fillRect/>
          </a:stretch>
        </p:blipFill>
        <p:spPr>
          <a:xfrm>
            <a:off x="548640" y="1554480"/>
            <a:ext cx="8229600" cy="3986212"/>
          </a:xfrm>
          <a:prstGeom prst="rect">
            <a:avLst/>
          </a:prstGeom>
        </p:spPr>
      </p:pic>
      <p:sp>
        <p:nvSpPr>
          <p:cNvPr id="7" name="Rounded Rectangle 6"/>
          <p:cNvSpPr/>
          <p:nvPr/>
        </p:nvSpPr>
        <p:spPr>
          <a:xfrm>
            <a:off x="9098280" y="1600200"/>
            <a:ext cx="2514600" cy="109728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81160" y="1600200"/>
            <a:ext cx="731520" cy="1097280"/>
          </a:xfrm>
          <a:prstGeom prst="rect">
            <a:avLst/>
          </a:prstGeom>
          <a:noFill/>
        </p:spPr>
        <p:txBody>
          <a:bodyPr wrap="square" lIns="0" rIns="0" tIns="0" bIns="0" anchor="ctr">
            <a:spAutoFit/>
          </a:bodyPr>
          <a:lstStyle/>
          <a:p>
            <a:pPr algn="l">
              <a:spcAft>
                <a:spcPts val="0"/>
              </a:spcAft>
            </a:pPr>
            <a:r>
              <a:rPr sz="4000" b="1" i="0">
                <a:solidFill>
                  <a:srgbClr val="0F7B6C"/>
                </a:solidFill>
                <a:latin typeface="Calibri"/>
              </a:rPr>
              <a:t>9</a:t>
            </a:r>
          </a:p>
        </p:txBody>
      </p:sp>
      <p:sp>
        <p:nvSpPr>
          <p:cNvPr id="9" name="TextBox 8"/>
          <p:cNvSpPr txBox="1"/>
          <p:nvPr/>
        </p:nvSpPr>
        <p:spPr>
          <a:xfrm>
            <a:off x="10012680" y="1600200"/>
            <a:ext cx="1508760" cy="1097280"/>
          </a:xfrm>
          <a:prstGeom prst="rect">
            <a:avLst/>
          </a:prstGeom>
          <a:noFill/>
        </p:spPr>
        <p:txBody>
          <a:bodyPr wrap="square" lIns="0" rIns="0" tIns="0" bIns="0" anchor="ctr">
            <a:spAutoFit/>
          </a:bodyPr>
          <a:lstStyle/>
          <a:p>
            <a:pPr algn="l">
              <a:spcAft>
                <a:spcPts val="0"/>
              </a:spcAft>
            </a:pPr>
            <a:r>
              <a:rPr sz="1400" b="0" i="0">
                <a:solidFill>
                  <a:srgbClr val="1F2A30"/>
                </a:solidFill>
                <a:latin typeface="Calibri"/>
              </a:rPr>
              <a:t>new tables</a:t>
            </a:r>
          </a:p>
        </p:txBody>
      </p:sp>
      <p:sp>
        <p:nvSpPr>
          <p:cNvPr id="10" name="Rounded Rectangle 9"/>
          <p:cNvSpPr/>
          <p:nvPr/>
        </p:nvSpPr>
        <p:spPr>
          <a:xfrm>
            <a:off x="9098280" y="2926080"/>
            <a:ext cx="2514600" cy="109728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926080"/>
            <a:ext cx="731520" cy="1097280"/>
          </a:xfrm>
          <a:prstGeom prst="rect">
            <a:avLst/>
          </a:prstGeom>
          <a:noFill/>
        </p:spPr>
        <p:txBody>
          <a:bodyPr wrap="square" lIns="0" rIns="0" tIns="0" bIns="0" anchor="ctr">
            <a:spAutoFit/>
          </a:bodyPr>
          <a:lstStyle/>
          <a:p>
            <a:pPr algn="l">
              <a:spcAft>
                <a:spcPts val="0"/>
              </a:spcAft>
            </a:pPr>
            <a:r>
              <a:rPr sz="4000" b="1" i="0">
                <a:solidFill>
                  <a:srgbClr val="0F7B6C"/>
                </a:solidFill>
                <a:latin typeface="Calibri"/>
              </a:rPr>
              <a:t>1</a:t>
            </a:r>
          </a:p>
        </p:txBody>
      </p:sp>
      <p:sp>
        <p:nvSpPr>
          <p:cNvPr id="12" name="TextBox 11"/>
          <p:cNvSpPr txBox="1"/>
          <p:nvPr/>
        </p:nvSpPr>
        <p:spPr>
          <a:xfrm>
            <a:off x="10012680" y="2926080"/>
            <a:ext cx="1508760" cy="1097280"/>
          </a:xfrm>
          <a:prstGeom prst="rect">
            <a:avLst/>
          </a:prstGeom>
          <a:noFill/>
        </p:spPr>
        <p:txBody>
          <a:bodyPr wrap="square" lIns="0" rIns="0" tIns="0" bIns="0" anchor="ctr">
            <a:spAutoFit/>
          </a:bodyPr>
          <a:lstStyle/>
          <a:p>
            <a:pPr algn="l">
              <a:spcAft>
                <a:spcPts val="0"/>
              </a:spcAft>
            </a:pPr>
            <a:r>
              <a:rPr sz="1400" b="0" i="0">
                <a:solidFill>
                  <a:srgbClr val="1F2A30"/>
                </a:solidFill>
                <a:latin typeface="Calibri"/>
              </a:rPr>
              <a:t>additive, reversible migration</a:t>
            </a:r>
          </a:p>
        </p:txBody>
      </p:sp>
      <p:sp>
        <p:nvSpPr>
          <p:cNvPr id="13" name="Rounded Rectangle 12"/>
          <p:cNvSpPr/>
          <p:nvPr/>
        </p:nvSpPr>
        <p:spPr>
          <a:xfrm>
            <a:off x="9098280" y="4251960"/>
            <a:ext cx="2514600" cy="109728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4251960"/>
            <a:ext cx="731520" cy="1097280"/>
          </a:xfrm>
          <a:prstGeom prst="rect">
            <a:avLst/>
          </a:prstGeom>
          <a:noFill/>
        </p:spPr>
        <p:txBody>
          <a:bodyPr wrap="square" lIns="0" rIns="0" tIns="0" bIns="0" anchor="ctr">
            <a:spAutoFit/>
          </a:bodyPr>
          <a:lstStyle/>
          <a:p>
            <a:pPr algn="l">
              <a:spcAft>
                <a:spcPts val="0"/>
              </a:spcAft>
            </a:pPr>
            <a:r>
              <a:rPr sz="4000" b="1" i="0">
                <a:solidFill>
                  <a:srgbClr val="0F7B6C"/>
                </a:solidFill>
                <a:latin typeface="Calibri"/>
              </a:rPr>
              <a:t>0</a:t>
            </a:r>
          </a:p>
        </p:txBody>
      </p:sp>
      <p:sp>
        <p:nvSpPr>
          <p:cNvPr id="15" name="TextBox 14"/>
          <p:cNvSpPr txBox="1"/>
          <p:nvPr/>
        </p:nvSpPr>
        <p:spPr>
          <a:xfrm>
            <a:off x="10012680" y="4251960"/>
            <a:ext cx="1508760" cy="1097280"/>
          </a:xfrm>
          <a:prstGeom prst="rect">
            <a:avLst/>
          </a:prstGeom>
          <a:noFill/>
        </p:spPr>
        <p:txBody>
          <a:bodyPr wrap="square" lIns="0" rIns="0" tIns="0" bIns="0" anchor="ctr">
            <a:spAutoFit/>
          </a:bodyPr>
          <a:lstStyle/>
          <a:p>
            <a:pPr algn="l">
              <a:spcAft>
                <a:spcPts val="0"/>
              </a:spcAft>
            </a:pPr>
            <a:r>
              <a:rPr sz="1400" b="0" i="0">
                <a:solidFill>
                  <a:srgbClr val="1F2A30"/>
                </a:solidFill>
                <a:latin typeface="Calibri"/>
              </a:rPr>
              <a:t>Module 1–3 tables rewritten</a:t>
            </a:r>
          </a:p>
        </p:txBody>
      </p:sp>
      <p:sp>
        <p:nvSpPr>
          <p:cNvPr id="16" name="TextBox 15"/>
          <p:cNvSpPr txBox="1"/>
          <p:nvPr/>
        </p:nvSpPr>
        <p:spPr>
          <a:xfrm>
            <a:off x="9098280" y="5623560"/>
            <a:ext cx="2514600" cy="640080"/>
          </a:xfrm>
          <a:prstGeom prst="rect">
            <a:avLst/>
          </a:prstGeom>
          <a:noFill/>
        </p:spPr>
        <p:txBody>
          <a:bodyPr wrap="square" lIns="0" rIns="0" tIns="0" bIns="0" anchor="t">
            <a:spAutoFit/>
          </a:bodyPr>
          <a:lstStyle/>
          <a:p>
            <a:pPr algn="l">
              <a:spcAft>
                <a:spcPts val="0"/>
              </a:spcAft>
            </a:pPr>
            <a:r>
              <a:rPr sz="1200" b="0" i="0">
                <a:solidFill>
                  <a:srgbClr val="5B6B70"/>
                </a:solidFill>
                <a:latin typeface="Calibri"/>
              </a:rPr>
              <a:t>Only change to existing schema: role column widened 16 → 30 characters.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Essential services directory</a:t>
            </a:r>
          </a:p>
        </p:txBody>
      </p:sp>
      <p:sp>
        <p:nvSpPr>
          <p:cNvPr id="3" name="TextBox 2"/>
          <p:cNvSpPr txBox="1"/>
          <p:nvPr/>
        </p:nvSpPr>
        <p:spPr>
          <a:xfrm>
            <a:off x="548640" y="987552"/>
            <a:ext cx="11064240" cy="365760"/>
          </a:xfrm>
          <a:prstGeom prst="rect">
            <a:avLst/>
          </a:prstGeom>
          <a:noFill/>
        </p:spPr>
        <p:txBody>
          <a:bodyPr wrap="square" lIns="0" rIns="0" tIns="0" bIns="0" anchor="t">
            <a:spAutoFit/>
          </a:bodyPr>
          <a:lstStyle/>
          <a:p>
            <a:pPr algn="l">
              <a:spcAft>
                <a:spcPts val="0"/>
              </a:spcAft>
            </a:pPr>
            <a:r>
              <a:rPr sz="1600" b="0" i="0">
                <a:solidFill>
                  <a:srgbClr val="5B6B70"/>
                </a:solidFill>
                <a:latin typeface="Calibri"/>
              </a:rPr>
              <a:t>Search, category filter, verification badges and a schematic coverage map</a:t>
            </a:r>
          </a:p>
        </p:txBody>
      </p:sp>
      <p:sp>
        <p:nvSpPr>
          <p:cNvPr id="4" name="TextBox 3"/>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5" name="TextBox 4"/>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7 / 16</a:t>
            </a:r>
          </a:p>
        </p:txBody>
      </p:sp>
      <p:sp>
        <p:nvSpPr>
          <p:cNvPr id="6" name="Rounded Rectangle 5"/>
          <p:cNvSpPr/>
          <p:nvPr/>
        </p:nvSpPr>
        <p:spPr>
          <a:xfrm>
            <a:off x="512063" y="1517904"/>
            <a:ext cx="7296912" cy="4737659"/>
          </a:xfrm>
          <a:prstGeom prst="roundRect">
            <a:avLst>
              <a:gd name="adj" fmla="val 2000"/>
            </a:avLst>
          </a:prstGeom>
          <a:solidFill>
            <a:srgbClr val="FFFFFF"/>
          </a:solidFill>
          <a:ln w="12700">
            <a:solidFill>
              <a:srgbClr val="D5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shot r_directory" descr="r_directory_7.9_5.1.png"/>
          <p:cNvPicPr>
            <a:picLocks noChangeAspect="1"/>
          </p:cNvPicPr>
          <p:nvPr/>
        </p:nvPicPr>
        <p:blipFill>
          <a:blip r:embed="rId3"/>
          <a:stretch>
            <a:fillRect/>
          </a:stretch>
        </p:blipFill>
        <p:spPr>
          <a:xfrm>
            <a:off x="548640" y="1554480"/>
            <a:ext cx="7223760" cy="4664507"/>
          </a:xfrm>
          <a:prstGeom prst="rect">
            <a:avLst/>
          </a:prstGeom>
        </p:spPr>
      </p:pic>
      <p:sp>
        <p:nvSpPr>
          <p:cNvPr id="8" name="TextBox 7"/>
          <p:cNvSpPr txBox="1"/>
          <p:nvPr/>
        </p:nvSpPr>
        <p:spPr>
          <a:xfrm>
            <a:off x="8183879" y="1554480"/>
            <a:ext cx="34290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Verification badge</a:t>
            </a:r>
          </a:p>
        </p:txBody>
      </p:sp>
      <p:sp>
        <p:nvSpPr>
          <p:cNvPr id="9" name="Rounded Rectangle 8"/>
          <p:cNvSpPr/>
          <p:nvPr/>
        </p:nvSpPr>
        <p:spPr>
          <a:xfrm>
            <a:off x="8183879" y="2103120"/>
            <a:ext cx="1965960" cy="365760"/>
          </a:xfrm>
          <a:prstGeom prst="roundRect">
            <a:avLst>
              <a:gd name="adj" fmla="val 50000"/>
            </a:avLst>
          </a:prstGeom>
          <a:solidFill>
            <a:srgbClr val="E3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2103120"/>
            <a:ext cx="1965960" cy="365760"/>
          </a:xfrm>
          <a:prstGeom prst="rect">
            <a:avLst/>
          </a:prstGeom>
          <a:noFill/>
        </p:spPr>
        <p:txBody>
          <a:bodyPr wrap="square" lIns="0" rIns="0" tIns="0" bIns="0" anchor="ctr">
            <a:spAutoFit/>
          </a:bodyPr>
          <a:lstStyle/>
          <a:p>
            <a:pPr algn="ctr">
              <a:spcAft>
                <a:spcPts val="0"/>
              </a:spcAft>
            </a:pPr>
            <a:r>
              <a:rPr sz="1200" b="1" i="0">
                <a:solidFill>
                  <a:srgbClr val="1E7A45"/>
                </a:solidFill>
                <a:latin typeface="Calibri"/>
              </a:rPr>
              <a:t>Verified</a:t>
            </a:r>
          </a:p>
        </p:txBody>
      </p:sp>
      <p:sp>
        <p:nvSpPr>
          <p:cNvPr id="11" name="TextBox 10"/>
          <p:cNvSpPr txBox="1"/>
          <p:nvPr/>
        </p:nvSpPr>
        <p:spPr>
          <a:xfrm>
            <a:off x="10241280" y="2103120"/>
            <a:ext cx="1371600" cy="365760"/>
          </a:xfrm>
          <a:prstGeom prst="rect">
            <a:avLst/>
          </a:prstGeom>
          <a:noFill/>
        </p:spPr>
        <p:txBody>
          <a:bodyPr wrap="square" lIns="0" rIns="0" tIns="0" bIns="0" anchor="ctr">
            <a:spAutoFit/>
          </a:bodyPr>
          <a:lstStyle/>
          <a:p>
            <a:pPr algn="l">
              <a:spcAft>
                <a:spcPts val="0"/>
              </a:spcAft>
            </a:pPr>
            <a:r>
              <a:rPr sz="1200" b="0" i="0">
                <a:solidFill>
                  <a:srgbClr val="5B6B70"/>
                </a:solidFill>
                <a:latin typeface="Calibri"/>
              </a:rPr>
              <a:t>checked within the period</a:t>
            </a:r>
          </a:p>
        </p:txBody>
      </p:sp>
      <p:sp>
        <p:nvSpPr>
          <p:cNvPr id="12" name="Rounded Rectangle 11"/>
          <p:cNvSpPr/>
          <p:nvPr/>
        </p:nvSpPr>
        <p:spPr>
          <a:xfrm>
            <a:off x="8183879" y="2761487"/>
            <a:ext cx="1965960" cy="365760"/>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79" y="2761487"/>
            <a:ext cx="1965960" cy="365760"/>
          </a:xfrm>
          <a:prstGeom prst="rect">
            <a:avLst/>
          </a:prstGeom>
          <a:noFill/>
        </p:spPr>
        <p:txBody>
          <a:bodyPr wrap="square" lIns="0" rIns="0" tIns="0" bIns="0" anchor="ctr">
            <a:spAutoFit/>
          </a:bodyPr>
          <a:lstStyle/>
          <a:p>
            <a:pPr algn="ctr">
              <a:spcAft>
                <a:spcPts val="0"/>
              </a:spcAft>
            </a:pPr>
            <a:r>
              <a:rPr sz="1200" b="1" i="0">
                <a:solidFill>
                  <a:srgbClr val="B86E00"/>
                </a:solidFill>
                <a:latin typeface="Calibri"/>
              </a:rPr>
              <a:t>Needs re-verification</a:t>
            </a:r>
          </a:p>
        </p:txBody>
      </p:sp>
      <p:sp>
        <p:nvSpPr>
          <p:cNvPr id="14" name="TextBox 13"/>
          <p:cNvSpPr txBox="1"/>
          <p:nvPr/>
        </p:nvSpPr>
        <p:spPr>
          <a:xfrm>
            <a:off x="10241280" y="2761487"/>
            <a:ext cx="1371600" cy="365760"/>
          </a:xfrm>
          <a:prstGeom prst="rect">
            <a:avLst/>
          </a:prstGeom>
          <a:noFill/>
        </p:spPr>
        <p:txBody>
          <a:bodyPr wrap="square" lIns="0" rIns="0" tIns="0" bIns="0" anchor="ctr">
            <a:spAutoFit/>
          </a:bodyPr>
          <a:lstStyle/>
          <a:p>
            <a:pPr algn="l">
              <a:spcAft>
                <a:spcPts val="0"/>
              </a:spcAft>
            </a:pPr>
            <a:r>
              <a:rPr sz="1200" b="0" i="0">
                <a:solidFill>
                  <a:srgbClr val="5B6B70"/>
                </a:solidFill>
                <a:latin typeface="Calibri"/>
              </a:rPr>
              <a:t>older than 180 days</a:t>
            </a:r>
          </a:p>
        </p:txBody>
      </p:sp>
      <p:sp>
        <p:nvSpPr>
          <p:cNvPr id="15" name="Rounded Rectangle 14"/>
          <p:cNvSpPr/>
          <p:nvPr/>
        </p:nvSpPr>
        <p:spPr>
          <a:xfrm>
            <a:off x="8183879" y="3419856"/>
            <a:ext cx="1965960" cy="365760"/>
          </a:xfrm>
          <a:prstGeom prst="roundRect">
            <a:avLst>
              <a:gd name="adj" fmla="val 50000"/>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3419856"/>
            <a:ext cx="1965960" cy="365760"/>
          </a:xfrm>
          <a:prstGeom prst="rect">
            <a:avLst/>
          </a:prstGeom>
          <a:noFill/>
        </p:spPr>
        <p:txBody>
          <a:bodyPr wrap="square" lIns="0" rIns="0" tIns="0" bIns="0" anchor="ctr">
            <a:spAutoFit/>
          </a:bodyPr>
          <a:lstStyle/>
          <a:p>
            <a:pPr algn="ctr">
              <a:spcAft>
                <a:spcPts val="0"/>
              </a:spcAft>
            </a:pPr>
            <a:r>
              <a:rPr sz="1200" b="1" i="0">
                <a:solidFill>
                  <a:srgbClr val="5B6B70"/>
                </a:solidFill>
                <a:latin typeface="Calibri"/>
              </a:rPr>
              <a:t>Not yet verified</a:t>
            </a:r>
          </a:p>
        </p:txBody>
      </p:sp>
      <p:sp>
        <p:nvSpPr>
          <p:cNvPr id="17" name="TextBox 16"/>
          <p:cNvSpPr txBox="1"/>
          <p:nvPr/>
        </p:nvSpPr>
        <p:spPr>
          <a:xfrm>
            <a:off x="10241280" y="3419856"/>
            <a:ext cx="1371600" cy="365760"/>
          </a:xfrm>
          <a:prstGeom prst="rect">
            <a:avLst/>
          </a:prstGeom>
          <a:noFill/>
        </p:spPr>
        <p:txBody>
          <a:bodyPr wrap="square" lIns="0" rIns="0" tIns="0" bIns="0" anchor="ctr">
            <a:spAutoFit/>
          </a:bodyPr>
          <a:lstStyle/>
          <a:p>
            <a:pPr algn="l">
              <a:spcAft>
                <a:spcPts val="0"/>
              </a:spcAft>
            </a:pPr>
            <a:r>
              <a:rPr sz="1200" b="0" i="0">
                <a:solidFill>
                  <a:srgbClr val="5B6B70"/>
                </a:solidFill>
                <a:latin typeface="Calibri"/>
              </a:rPr>
              <a:t>never checked</a:t>
            </a:r>
          </a:p>
        </p:txBody>
      </p:sp>
      <p:sp>
        <p:nvSpPr>
          <p:cNvPr id="18" name="Rounded Rectangle 17"/>
          <p:cNvSpPr/>
          <p:nvPr/>
        </p:nvSpPr>
        <p:spPr>
          <a:xfrm>
            <a:off x="8183879" y="4078224"/>
            <a:ext cx="1965960" cy="365760"/>
          </a:xfrm>
          <a:prstGeom prst="roundRect">
            <a:avLst>
              <a:gd name="adj" fmla="val 50000"/>
            </a:avLst>
          </a:prstGeom>
          <a:solidFill>
            <a:srgbClr val="FC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79" y="4078224"/>
            <a:ext cx="1965960" cy="365760"/>
          </a:xfrm>
          <a:prstGeom prst="rect">
            <a:avLst/>
          </a:prstGeom>
          <a:noFill/>
        </p:spPr>
        <p:txBody>
          <a:bodyPr wrap="square" lIns="0" rIns="0" tIns="0" bIns="0" anchor="ctr">
            <a:spAutoFit/>
          </a:bodyPr>
          <a:lstStyle/>
          <a:p>
            <a:pPr algn="ctr">
              <a:spcAft>
                <a:spcPts val="0"/>
              </a:spcAft>
            </a:pPr>
            <a:r>
              <a:rPr sz="1200" b="1" i="0">
                <a:solidFill>
                  <a:srgbClr val="B4501E"/>
                </a:solidFill>
                <a:latin typeface="Calibri"/>
              </a:rPr>
              <a:t>Flagged for recheck</a:t>
            </a:r>
          </a:p>
        </p:txBody>
      </p:sp>
      <p:sp>
        <p:nvSpPr>
          <p:cNvPr id="20" name="TextBox 19"/>
          <p:cNvSpPr txBox="1"/>
          <p:nvPr/>
        </p:nvSpPr>
        <p:spPr>
          <a:xfrm>
            <a:off x="10241280" y="4078224"/>
            <a:ext cx="1371600" cy="365760"/>
          </a:xfrm>
          <a:prstGeom prst="rect">
            <a:avLst/>
          </a:prstGeom>
          <a:noFill/>
        </p:spPr>
        <p:txBody>
          <a:bodyPr wrap="square" lIns="0" rIns="0" tIns="0" bIns="0" anchor="ctr">
            <a:spAutoFit/>
          </a:bodyPr>
          <a:lstStyle/>
          <a:p>
            <a:pPr algn="l">
              <a:spcAft>
                <a:spcPts val="0"/>
              </a:spcAft>
            </a:pPr>
            <a:r>
              <a:rPr sz="1200" b="0" i="0">
                <a:solidFill>
                  <a:srgbClr val="5B6B70"/>
                </a:solidFill>
                <a:latin typeface="Calibri"/>
              </a:rPr>
              <a:t>coordinator flagged it</a:t>
            </a:r>
          </a:p>
        </p:txBody>
      </p:sp>
      <p:sp>
        <p:nvSpPr>
          <p:cNvPr id="21" name="Rounded Rectangle 20"/>
          <p:cNvSpPr/>
          <p:nvPr/>
        </p:nvSpPr>
        <p:spPr>
          <a:xfrm>
            <a:off x="8183879" y="4736592"/>
            <a:ext cx="1965960" cy="365760"/>
          </a:xfrm>
          <a:prstGeom prst="roundRect">
            <a:avLst>
              <a:gd name="adj" fmla="val 50000"/>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79" y="4736592"/>
            <a:ext cx="1965960" cy="365760"/>
          </a:xfrm>
          <a:prstGeom prst="rect">
            <a:avLst/>
          </a:prstGeom>
          <a:noFill/>
        </p:spPr>
        <p:txBody>
          <a:bodyPr wrap="square" lIns="0" rIns="0" tIns="0" bIns="0" anchor="ctr">
            <a:spAutoFit/>
          </a:bodyPr>
          <a:lstStyle/>
          <a:p>
            <a:pPr algn="ctr">
              <a:spcAft>
                <a:spcPts val="0"/>
              </a:spcAft>
            </a:pPr>
            <a:r>
              <a:rPr sz="1200" b="1" i="0">
                <a:solidFill>
                  <a:srgbClr val="5B6B70"/>
                </a:solidFill>
                <a:latin typeface="Calibri"/>
              </a:rPr>
              <a:t>Archived</a:t>
            </a:r>
          </a:p>
        </p:txBody>
      </p:sp>
      <p:sp>
        <p:nvSpPr>
          <p:cNvPr id="23" name="TextBox 22"/>
          <p:cNvSpPr txBox="1"/>
          <p:nvPr/>
        </p:nvSpPr>
        <p:spPr>
          <a:xfrm>
            <a:off x="10241280" y="4736592"/>
            <a:ext cx="1371600" cy="365760"/>
          </a:xfrm>
          <a:prstGeom prst="rect">
            <a:avLst/>
          </a:prstGeom>
          <a:noFill/>
        </p:spPr>
        <p:txBody>
          <a:bodyPr wrap="square" lIns="0" rIns="0" tIns="0" bIns="0" anchor="ctr">
            <a:spAutoFit/>
          </a:bodyPr>
          <a:lstStyle/>
          <a:p>
            <a:pPr algn="l">
              <a:spcAft>
                <a:spcPts val="0"/>
              </a:spcAft>
            </a:pPr>
            <a:r>
              <a:rPr sz="1200" b="0" i="0">
                <a:solidFill>
                  <a:srgbClr val="5B6B70"/>
                </a:solidFill>
                <a:latin typeface="Calibri"/>
              </a:rPr>
              <a:t>hidden from residents</a:t>
            </a:r>
          </a:p>
        </p:txBody>
      </p:sp>
      <p:sp>
        <p:nvSpPr>
          <p:cNvPr id="24" name="TextBox 23"/>
          <p:cNvSpPr txBox="1"/>
          <p:nvPr/>
        </p:nvSpPr>
        <p:spPr>
          <a:xfrm>
            <a:off x="8183879" y="5486400"/>
            <a:ext cx="3429000" cy="731520"/>
          </a:xfrm>
          <a:prstGeom prst="rect">
            <a:avLst/>
          </a:prstGeom>
          <a:noFill/>
        </p:spPr>
        <p:txBody>
          <a:bodyPr wrap="square" lIns="0" rIns="0" tIns="0" bIns="0" anchor="t">
            <a:spAutoFit/>
          </a:bodyPr>
          <a:lstStyle/>
          <a:p>
            <a:pPr algn="l">
              <a:spcAft>
                <a:spcPts val="0"/>
              </a:spcAft>
            </a:pPr>
            <a:r>
              <a:rPr sz="1400" b="0" i="0">
                <a:solidFill>
                  <a:srgbClr val="1F2A30"/>
                </a:solidFill>
                <a:latin typeface="Calibri"/>
              </a:rPr>
              <a:t>Stale listings show a warning to call ahead; they are never silently hidden.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The correction workflow</a:t>
            </a:r>
          </a:p>
        </p:txBody>
      </p:sp>
      <p:sp>
        <p:nvSpPr>
          <p:cNvPr id="3" name="TextBox 2"/>
          <p:cNvSpPr txBox="1"/>
          <p:nvPr/>
        </p:nvSpPr>
        <p:spPr>
          <a:xfrm>
            <a:off x="548640" y="987552"/>
            <a:ext cx="11064240" cy="365760"/>
          </a:xfrm>
          <a:prstGeom prst="rect">
            <a:avLst/>
          </a:prstGeom>
          <a:noFill/>
        </p:spPr>
        <p:txBody>
          <a:bodyPr wrap="square" lIns="0" rIns="0" tIns="0" bIns="0" anchor="t">
            <a:spAutoFit/>
          </a:bodyPr>
          <a:lstStyle/>
          <a:p>
            <a:pPr algn="l">
              <a:spcAft>
                <a:spcPts val="0"/>
              </a:spcAft>
            </a:pPr>
            <a:r>
              <a:rPr sz="1600" b="0" i="0">
                <a:solidFill>
                  <a:srgbClr val="5B6B70"/>
                </a:solidFill>
                <a:latin typeface="Calibri"/>
              </a:rPr>
              <a:t>From a resident's report to a recorded decision</a:t>
            </a:r>
          </a:p>
        </p:txBody>
      </p:sp>
      <p:sp>
        <p:nvSpPr>
          <p:cNvPr id="4" name="TextBox 3"/>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5" name="TextBox 4"/>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8 / 16</a:t>
            </a:r>
          </a:p>
        </p:txBody>
      </p:sp>
      <p:pic>
        <p:nvPicPr>
          <p:cNvPr id="6" name="diagram corrections" descr="corrections.png"/>
          <p:cNvPicPr>
            <a:picLocks noChangeAspect="1"/>
          </p:cNvPicPr>
          <p:nvPr/>
        </p:nvPicPr>
        <p:blipFill>
          <a:blip r:embed="rId3"/>
          <a:stretch>
            <a:fillRect/>
          </a:stretch>
        </p:blipFill>
        <p:spPr>
          <a:xfrm>
            <a:off x="858952" y="1508760"/>
            <a:ext cx="10443615" cy="4023360"/>
          </a:xfrm>
          <a:prstGeom prst="rect">
            <a:avLst/>
          </a:prstGeom>
        </p:spPr>
      </p:pic>
      <p:sp>
        <p:nvSpPr>
          <p:cNvPr id="7" name="Rounded Rectangle 6"/>
          <p:cNvSpPr/>
          <p:nvPr/>
        </p:nvSpPr>
        <p:spPr>
          <a:xfrm>
            <a:off x="548640" y="5669280"/>
            <a:ext cx="3520440" cy="54864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669280"/>
            <a:ext cx="3200400" cy="548640"/>
          </a:xfrm>
          <a:prstGeom prst="rect">
            <a:avLst/>
          </a:prstGeom>
          <a:noFill/>
        </p:spPr>
        <p:txBody>
          <a:bodyPr wrap="square" lIns="0" rIns="0" tIns="0" bIns="0" anchor="ctr">
            <a:spAutoFit/>
          </a:bodyPr>
          <a:lstStyle/>
          <a:p>
            <a:pPr algn="l">
              <a:spcAft>
                <a:spcPts val="0"/>
              </a:spcAft>
            </a:pPr>
            <a:r>
              <a:rPr sz="1400" b="1" i="0">
                <a:solidFill>
                  <a:srgbClr val="0B3B3C"/>
                </a:solidFill>
                <a:latin typeface="Calibri"/>
              </a:rPr>
              <a:t>Every decision needs a written reason</a:t>
            </a:r>
          </a:p>
        </p:txBody>
      </p:sp>
      <p:sp>
        <p:nvSpPr>
          <p:cNvPr id="9" name="Rounded Rectangle 8"/>
          <p:cNvSpPr/>
          <p:nvPr/>
        </p:nvSpPr>
        <p:spPr>
          <a:xfrm>
            <a:off x="4343400" y="5669280"/>
            <a:ext cx="3520440" cy="54864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5669280"/>
            <a:ext cx="3200400" cy="548640"/>
          </a:xfrm>
          <a:prstGeom prst="rect">
            <a:avLst/>
          </a:prstGeom>
          <a:noFill/>
        </p:spPr>
        <p:txBody>
          <a:bodyPr wrap="square" lIns="0" rIns="0" tIns="0" bIns="0" anchor="ctr">
            <a:spAutoFit/>
          </a:bodyPr>
          <a:lstStyle/>
          <a:p>
            <a:pPr algn="l">
              <a:spcAft>
                <a:spcPts val="0"/>
              </a:spcAft>
            </a:pPr>
            <a:r>
              <a:rPr sz="1400" b="1" i="0">
                <a:solidFill>
                  <a:srgbClr val="0B3B3C"/>
                </a:solidFill>
                <a:latin typeface="Calibri"/>
              </a:rPr>
              <a:t>Row locks stop two conflicting decisions</a:t>
            </a:r>
          </a:p>
        </p:txBody>
      </p:sp>
      <p:sp>
        <p:nvSpPr>
          <p:cNvPr id="11" name="Rounded Rectangle 10"/>
          <p:cNvSpPr/>
          <p:nvPr/>
        </p:nvSpPr>
        <p:spPr>
          <a:xfrm>
            <a:off x="8138160" y="5669280"/>
            <a:ext cx="3520440" cy="54864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669280"/>
            <a:ext cx="3200400" cy="548640"/>
          </a:xfrm>
          <a:prstGeom prst="rect">
            <a:avLst/>
          </a:prstGeom>
          <a:noFill/>
        </p:spPr>
        <p:txBody>
          <a:bodyPr wrap="square" lIns="0" rIns="0" tIns="0" bIns="0" anchor="ctr">
            <a:spAutoFit/>
          </a:bodyPr>
          <a:lstStyle/>
          <a:p>
            <a:pPr algn="l">
              <a:spcAft>
                <a:spcPts val="0"/>
              </a:spcAft>
            </a:pPr>
            <a:r>
              <a:rPr sz="1400" b="1" i="0">
                <a:solidFill>
                  <a:srgbClr val="0B3B3C"/>
                </a:solidFill>
                <a:latin typeface="Calibri"/>
              </a:rPr>
              <a:t>Approval changes only the reported field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Demo 1: a resident reports an outdated number</a:t>
            </a:r>
          </a:p>
        </p:txBody>
      </p:sp>
      <p:sp>
        <p:nvSpPr>
          <p:cNvPr id="3" name="TextBox 2"/>
          <p:cNvSpPr txBox="1"/>
          <p:nvPr/>
        </p:nvSpPr>
        <p:spPr>
          <a:xfrm>
            <a:off x="548640" y="987552"/>
            <a:ext cx="11064240" cy="365760"/>
          </a:xfrm>
          <a:prstGeom prst="rect">
            <a:avLst/>
          </a:prstGeom>
          <a:noFill/>
        </p:spPr>
        <p:txBody>
          <a:bodyPr wrap="square" lIns="0" rIns="0" tIns="0" bIns="0" anchor="t">
            <a:spAutoFit/>
          </a:bodyPr>
          <a:lstStyle/>
          <a:p>
            <a:pPr algn="l">
              <a:spcAft>
                <a:spcPts val="0"/>
              </a:spcAft>
            </a:pPr>
            <a:r>
              <a:rPr sz="1600" b="0" i="0">
                <a:solidFill>
                  <a:srgbClr val="5B6B70"/>
                </a:solidFill>
                <a:latin typeface="Calibri"/>
              </a:rPr>
              <a:t>Rahul (resident) finds that Meadow Care Pharmacy's phone number is disconnected</a:t>
            </a:r>
          </a:p>
        </p:txBody>
      </p:sp>
      <p:sp>
        <p:nvSpPr>
          <p:cNvPr id="4" name="TextBox 3"/>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5" name="TextBox 4"/>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9 / 16</a:t>
            </a:r>
          </a:p>
        </p:txBody>
      </p:sp>
      <p:sp>
        <p:nvSpPr>
          <p:cNvPr id="6" name="Oval 5"/>
          <p:cNvSpPr/>
          <p:nvPr/>
        </p:nvSpPr>
        <p:spPr>
          <a:xfrm>
            <a:off x="548640" y="1645920"/>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45920"/>
            <a:ext cx="411480" cy="41148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1</a:t>
            </a:r>
          </a:p>
        </p:txBody>
      </p:sp>
      <p:sp>
        <p:nvSpPr>
          <p:cNvPr id="8" name="TextBox 7"/>
          <p:cNvSpPr txBox="1"/>
          <p:nvPr/>
        </p:nvSpPr>
        <p:spPr>
          <a:xfrm>
            <a:off x="1143000" y="1627632"/>
            <a:ext cx="3337560" cy="1005839"/>
          </a:xfrm>
          <a:prstGeom prst="rect">
            <a:avLst/>
          </a:prstGeom>
          <a:noFill/>
        </p:spPr>
        <p:txBody>
          <a:bodyPr wrap="square" lIns="0" rIns="0" tIns="0" bIns="0" anchor="t">
            <a:spAutoFit/>
          </a:bodyPr>
          <a:lstStyle/>
          <a:p>
            <a:pPr algn="l">
              <a:spcAft>
                <a:spcPts val="200"/>
              </a:spcAft>
            </a:pPr>
            <a:r>
              <a:rPr sz="1700" b="1" i="0">
                <a:solidFill>
                  <a:srgbClr val="0B3B3C"/>
                </a:solidFill>
                <a:latin typeface="Calibri"/>
              </a:rPr>
              <a:t>Open the listing</a:t>
            </a:r>
          </a:p>
          <a:p>
            <a:pPr algn="l">
              <a:spcAft>
                <a:spcPts val="200"/>
              </a:spcAft>
            </a:pPr>
            <a:r>
              <a:rPr sz="1500" b="0" i="0">
                <a:solidFill>
                  <a:srgbClr val="1F2A30"/>
                </a:solidFill>
                <a:latin typeface="Calibri"/>
              </a:rPr>
              <a:t>Meadow Care Pharmacy (demo) in the directory.</a:t>
            </a:r>
          </a:p>
        </p:txBody>
      </p:sp>
      <p:sp>
        <p:nvSpPr>
          <p:cNvPr id="9" name="Oval 8"/>
          <p:cNvSpPr/>
          <p:nvPr/>
        </p:nvSpPr>
        <p:spPr>
          <a:xfrm>
            <a:off x="548640" y="2743200"/>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43200"/>
            <a:ext cx="411480" cy="41148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2</a:t>
            </a:r>
          </a:p>
        </p:txBody>
      </p:sp>
      <p:sp>
        <p:nvSpPr>
          <p:cNvPr id="11" name="TextBox 10"/>
          <p:cNvSpPr txBox="1"/>
          <p:nvPr/>
        </p:nvSpPr>
        <p:spPr>
          <a:xfrm>
            <a:off x="1143000" y="2724912"/>
            <a:ext cx="3337560" cy="1005839"/>
          </a:xfrm>
          <a:prstGeom prst="rect">
            <a:avLst/>
          </a:prstGeom>
          <a:noFill/>
        </p:spPr>
        <p:txBody>
          <a:bodyPr wrap="square" lIns="0" rIns="0" tIns="0" bIns="0" anchor="t">
            <a:spAutoFit/>
          </a:bodyPr>
          <a:lstStyle/>
          <a:p>
            <a:pPr algn="l">
              <a:spcAft>
                <a:spcPts val="200"/>
              </a:spcAft>
            </a:pPr>
            <a:r>
              <a:rPr sz="1700" b="1" i="0">
                <a:solidFill>
                  <a:srgbClr val="0B3B3C"/>
                </a:solidFill>
                <a:latin typeface="Calibri"/>
              </a:rPr>
              <a:t>Choose the issue</a:t>
            </a:r>
          </a:p>
          <a:p>
            <a:pPr algn="l">
              <a:spcAft>
                <a:spcPts val="200"/>
              </a:spcAft>
            </a:pPr>
            <a:r>
              <a:rPr sz="1500" b="0" i="0">
                <a:solidFill>
                  <a:srgbClr val="1F2A30"/>
                </a:solidFill>
                <a:latin typeface="Calibri"/>
              </a:rPr>
              <a:t>“Phone number is wrong”, new number +91 00000 19999.</a:t>
            </a:r>
          </a:p>
        </p:txBody>
      </p:sp>
      <p:sp>
        <p:nvSpPr>
          <p:cNvPr id="12" name="Oval 11"/>
          <p:cNvSpPr/>
          <p:nvPr/>
        </p:nvSpPr>
        <p:spPr>
          <a:xfrm>
            <a:off x="548640" y="3840480"/>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840480"/>
            <a:ext cx="411480" cy="41148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3</a:t>
            </a:r>
          </a:p>
        </p:txBody>
      </p:sp>
      <p:sp>
        <p:nvSpPr>
          <p:cNvPr id="14" name="TextBox 13"/>
          <p:cNvSpPr txBox="1"/>
          <p:nvPr/>
        </p:nvSpPr>
        <p:spPr>
          <a:xfrm>
            <a:off x="1143000" y="3822192"/>
            <a:ext cx="3337560" cy="1005839"/>
          </a:xfrm>
          <a:prstGeom prst="rect">
            <a:avLst/>
          </a:prstGeom>
          <a:noFill/>
        </p:spPr>
        <p:txBody>
          <a:bodyPr wrap="square" lIns="0" rIns="0" tIns="0" bIns="0" anchor="t">
            <a:spAutoFit/>
          </a:bodyPr>
          <a:lstStyle/>
          <a:p>
            <a:pPr algn="l">
              <a:spcAft>
                <a:spcPts val="200"/>
              </a:spcAft>
            </a:pPr>
            <a:r>
              <a:rPr sz="1700" b="1" i="0">
                <a:solidFill>
                  <a:srgbClr val="0B3B3C"/>
                </a:solidFill>
                <a:latin typeface="Calibri"/>
              </a:rPr>
              <a:t>Give a reason</a:t>
            </a:r>
          </a:p>
          <a:p>
            <a:pPr algn="l">
              <a:spcAft>
                <a:spcPts val="200"/>
              </a:spcAft>
            </a:pPr>
            <a:r>
              <a:rPr sz="1500" b="0" i="0">
                <a:solidFill>
                  <a:srgbClr val="1F2A30"/>
                </a:solidFill>
                <a:latin typeface="Calibri"/>
              </a:rPr>
              <a:t>Mandatory; an evidence link is optional.</a:t>
            </a:r>
          </a:p>
        </p:txBody>
      </p:sp>
      <p:sp>
        <p:nvSpPr>
          <p:cNvPr id="15" name="Oval 14"/>
          <p:cNvSpPr/>
          <p:nvPr/>
        </p:nvSpPr>
        <p:spPr>
          <a:xfrm>
            <a:off x="548640" y="4937759"/>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937759"/>
            <a:ext cx="411480" cy="41148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4</a:t>
            </a:r>
          </a:p>
        </p:txBody>
      </p:sp>
      <p:sp>
        <p:nvSpPr>
          <p:cNvPr id="17" name="TextBox 16"/>
          <p:cNvSpPr txBox="1"/>
          <p:nvPr/>
        </p:nvSpPr>
        <p:spPr>
          <a:xfrm>
            <a:off x="1143000" y="4919472"/>
            <a:ext cx="3337560" cy="1005839"/>
          </a:xfrm>
          <a:prstGeom prst="rect">
            <a:avLst/>
          </a:prstGeom>
          <a:noFill/>
        </p:spPr>
        <p:txBody>
          <a:bodyPr wrap="square" lIns="0" rIns="0" tIns="0" bIns="0" anchor="t">
            <a:spAutoFit/>
          </a:bodyPr>
          <a:lstStyle/>
          <a:p>
            <a:pPr algn="l">
              <a:spcAft>
                <a:spcPts val="200"/>
              </a:spcAft>
            </a:pPr>
            <a:r>
              <a:rPr sz="1700" b="1" i="0">
                <a:solidFill>
                  <a:srgbClr val="0B3B3C"/>
                </a:solidFill>
                <a:latin typeface="Calibri"/>
              </a:rPr>
              <a:t>Track it</a:t>
            </a:r>
          </a:p>
          <a:p>
            <a:pPr algn="l">
              <a:spcAft>
                <a:spcPts val="200"/>
              </a:spcAft>
            </a:pPr>
            <a:r>
              <a:rPr sz="1500" b="0" i="0">
                <a:solidFill>
                  <a:srgbClr val="1F2A30"/>
                </a:solidFill>
                <a:latin typeface="Calibri"/>
              </a:rPr>
              <a:t>The report appears in My corrections as Pending.</a:t>
            </a:r>
          </a:p>
        </p:txBody>
      </p:sp>
      <p:sp>
        <p:nvSpPr>
          <p:cNvPr id="18" name="Rounded Rectangle 17"/>
          <p:cNvSpPr/>
          <p:nvPr/>
        </p:nvSpPr>
        <p:spPr>
          <a:xfrm>
            <a:off x="4809744" y="1517904"/>
            <a:ext cx="6839712" cy="4735981"/>
          </a:xfrm>
          <a:prstGeom prst="roundRect">
            <a:avLst>
              <a:gd name="adj" fmla="val 2000"/>
            </a:avLst>
          </a:prstGeom>
          <a:solidFill>
            <a:srgbClr val="FFFFFF"/>
          </a:solidFill>
          <a:ln w="12700">
            <a:solidFill>
              <a:srgbClr val="D5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hot r_place_report" descr="r_place_report_7.4_5.1.png"/>
          <p:cNvPicPr>
            <a:picLocks noChangeAspect="1"/>
          </p:cNvPicPr>
          <p:nvPr/>
        </p:nvPicPr>
        <p:blipFill>
          <a:blip r:embed="rId3"/>
          <a:stretch>
            <a:fillRect/>
          </a:stretch>
        </p:blipFill>
        <p:spPr>
          <a:xfrm>
            <a:off x="4846320" y="1554480"/>
            <a:ext cx="6766560" cy="466282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Demo 2: the coordinator reviews it</a:t>
            </a:r>
          </a:p>
        </p:txBody>
      </p:sp>
      <p:sp>
        <p:nvSpPr>
          <p:cNvPr id="3" name="TextBox 2"/>
          <p:cNvSpPr txBox="1"/>
          <p:nvPr/>
        </p:nvSpPr>
        <p:spPr>
          <a:xfrm>
            <a:off x="548640" y="987552"/>
            <a:ext cx="11064240" cy="365760"/>
          </a:xfrm>
          <a:prstGeom prst="rect">
            <a:avLst/>
          </a:prstGeom>
          <a:noFill/>
        </p:spPr>
        <p:txBody>
          <a:bodyPr wrap="square" lIns="0" rIns="0" tIns="0" bIns="0" anchor="t">
            <a:spAutoFit/>
          </a:bodyPr>
          <a:lstStyle/>
          <a:p>
            <a:pPr algn="l">
              <a:spcAft>
                <a:spcPts val="0"/>
              </a:spcAft>
            </a:pPr>
            <a:r>
              <a:rPr sz="1600" b="0" i="0">
                <a:solidFill>
                  <a:srgbClr val="5B6B70"/>
                </a:solidFill>
                <a:latin typeface="Calibri"/>
              </a:rPr>
              <a:t>Kavya (Locality Coordinator) compares the values and decides with a reason</a:t>
            </a:r>
          </a:p>
        </p:txBody>
      </p:sp>
      <p:sp>
        <p:nvSpPr>
          <p:cNvPr id="4" name="TextBox 3"/>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5" name="TextBox 4"/>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10 / 16</a:t>
            </a:r>
          </a:p>
        </p:txBody>
      </p:sp>
      <p:sp>
        <p:nvSpPr>
          <p:cNvPr id="6" name="Rounded Rectangle 5"/>
          <p:cNvSpPr/>
          <p:nvPr/>
        </p:nvSpPr>
        <p:spPr>
          <a:xfrm>
            <a:off x="512063" y="1517904"/>
            <a:ext cx="6839712" cy="4735981"/>
          </a:xfrm>
          <a:prstGeom prst="roundRect">
            <a:avLst>
              <a:gd name="adj" fmla="val 2000"/>
            </a:avLst>
          </a:prstGeom>
          <a:solidFill>
            <a:srgbClr val="FFFFFF"/>
          </a:solidFill>
          <a:ln w="12700">
            <a:solidFill>
              <a:srgbClr val="D5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shot c_corrections" descr="c_corrections_7.4_5.1.png"/>
          <p:cNvPicPr>
            <a:picLocks noChangeAspect="1"/>
          </p:cNvPicPr>
          <p:nvPr/>
        </p:nvPicPr>
        <p:blipFill>
          <a:blip r:embed="rId3"/>
          <a:stretch>
            <a:fillRect/>
          </a:stretch>
        </p:blipFill>
        <p:spPr>
          <a:xfrm>
            <a:off x="548640" y="1554480"/>
            <a:ext cx="6766560" cy="4662829"/>
          </a:xfrm>
          <a:prstGeom prst="rect">
            <a:avLst/>
          </a:prstGeom>
        </p:spPr>
      </p:pic>
      <p:sp>
        <p:nvSpPr>
          <p:cNvPr id="8" name="Oval 7"/>
          <p:cNvSpPr/>
          <p:nvPr/>
        </p:nvSpPr>
        <p:spPr>
          <a:xfrm>
            <a:off x="7680960" y="1645920"/>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645920"/>
            <a:ext cx="411480" cy="41148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1</a:t>
            </a:r>
          </a:p>
        </p:txBody>
      </p:sp>
      <p:sp>
        <p:nvSpPr>
          <p:cNvPr id="10" name="TextBox 9"/>
          <p:cNvSpPr txBox="1"/>
          <p:nvPr/>
        </p:nvSpPr>
        <p:spPr>
          <a:xfrm>
            <a:off x="8275320" y="1627632"/>
            <a:ext cx="3337560" cy="1005839"/>
          </a:xfrm>
          <a:prstGeom prst="rect">
            <a:avLst/>
          </a:prstGeom>
          <a:noFill/>
        </p:spPr>
        <p:txBody>
          <a:bodyPr wrap="square" lIns="0" rIns="0" tIns="0" bIns="0" anchor="t">
            <a:spAutoFit/>
          </a:bodyPr>
          <a:lstStyle/>
          <a:p>
            <a:pPr algn="l">
              <a:spcAft>
                <a:spcPts val="200"/>
              </a:spcAft>
            </a:pPr>
            <a:r>
              <a:rPr sz="1700" b="1" i="0">
                <a:solidFill>
                  <a:srgbClr val="0B3B3C"/>
                </a:solidFill>
                <a:latin typeface="Calibri"/>
              </a:rPr>
              <a:t>Open the queue</a:t>
            </a:r>
          </a:p>
          <a:p>
            <a:pPr algn="l">
              <a:spcAft>
                <a:spcPts val="200"/>
              </a:spcAft>
            </a:pPr>
            <a:r>
              <a:rPr sz="1500" b="0" i="0">
                <a:solidFill>
                  <a:srgbClr val="1F2A30"/>
                </a:solidFill>
                <a:latin typeface="Calibri"/>
              </a:rPr>
              <a:t>A badge shows a competing report from Amit.</a:t>
            </a:r>
          </a:p>
        </p:txBody>
      </p:sp>
      <p:sp>
        <p:nvSpPr>
          <p:cNvPr id="11" name="Oval 10"/>
          <p:cNvSpPr/>
          <p:nvPr/>
        </p:nvSpPr>
        <p:spPr>
          <a:xfrm>
            <a:off x="7680960" y="2743200"/>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2743200"/>
            <a:ext cx="411480" cy="41148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2</a:t>
            </a:r>
          </a:p>
        </p:txBody>
      </p:sp>
      <p:sp>
        <p:nvSpPr>
          <p:cNvPr id="13" name="TextBox 12"/>
          <p:cNvSpPr txBox="1"/>
          <p:nvPr/>
        </p:nvSpPr>
        <p:spPr>
          <a:xfrm>
            <a:off x="8275320" y="2724912"/>
            <a:ext cx="3337560" cy="1005839"/>
          </a:xfrm>
          <a:prstGeom prst="rect">
            <a:avLst/>
          </a:prstGeom>
          <a:noFill/>
        </p:spPr>
        <p:txBody>
          <a:bodyPr wrap="square" lIns="0" rIns="0" tIns="0" bIns="0" anchor="t">
            <a:spAutoFit/>
          </a:bodyPr>
          <a:lstStyle/>
          <a:p>
            <a:pPr algn="l">
              <a:spcAft>
                <a:spcPts val="200"/>
              </a:spcAft>
            </a:pPr>
            <a:r>
              <a:rPr sz="1700" b="1" i="0">
                <a:solidFill>
                  <a:srgbClr val="0B3B3C"/>
                </a:solidFill>
                <a:latin typeface="Calibri"/>
              </a:rPr>
              <a:t>Compare values</a:t>
            </a:r>
          </a:p>
          <a:p>
            <a:pPr algn="l">
              <a:spcAft>
                <a:spcPts val="200"/>
              </a:spcAft>
            </a:pPr>
            <a:r>
              <a:rPr sz="1500" b="0" i="0">
                <a:solidFill>
                  <a:srgbClr val="1F2A30"/>
                </a:solidFill>
                <a:latin typeface="Calibri"/>
              </a:rPr>
              <a:t>When reported, published now, and proposed.</a:t>
            </a:r>
          </a:p>
        </p:txBody>
      </p:sp>
      <p:sp>
        <p:nvSpPr>
          <p:cNvPr id="14" name="Oval 13"/>
          <p:cNvSpPr/>
          <p:nvPr/>
        </p:nvSpPr>
        <p:spPr>
          <a:xfrm>
            <a:off x="7680960" y="3840480"/>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3840480"/>
            <a:ext cx="411480" cy="41148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3</a:t>
            </a:r>
          </a:p>
        </p:txBody>
      </p:sp>
      <p:sp>
        <p:nvSpPr>
          <p:cNvPr id="16" name="TextBox 15"/>
          <p:cNvSpPr txBox="1"/>
          <p:nvPr/>
        </p:nvSpPr>
        <p:spPr>
          <a:xfrm>
            <a:off x="8275320" y="3822192"/>
            <a:ext cx="3337560" cy="1005839"/>
          </a:xfrm>
          <a:prstGeom prst="rect">
            <a:avLst/>
          </a:prstGeom>
          <a:noFill/>
        </p:spPr>
        <p:txBody>
          <a:bodyPr wrap="square" lIns="0" rIns="0" tIns="0" bIns="0" anchor="t">
            <a:spAutoFit/>
          </a:bodyPr>
          <a:lstStyle/>
          <a:p>
            <a:pPr algn="l">
              <a:spcAft>
                <a:spcPts val="200"/>
              </a:spcAft>
            </a:pPr>
            <a:r>
              <a:rPr sz="1700" b="1" i="0">
                <a:solidFill>
                  <a:srgbClr val="0B3B3C"/>
                </a:solidFill>
                <a:latin typeface="Calibri"/>
              </a:rPr>
              <a:t>Write a reason</a:t>
            </a:r>
          </a:p>
          <a:p>
            <a:pPr algn="l">
              <a:spcAft>
                <a:spcPts val="200"/>
              </a:spcAft>
            </a:pPr>
            <a:r>
              <a:rPr sz="1500" b="0" i="0">
                <a:solidFill>
                  <a:srgbClr val="1F2A30"/>
                </a:solidFill>
                <a:latin typeface="Calibri"/>
              </a:rPr>
              <a:t>“Called the shop and confirmed the new number.”</a:t>
            </a:r>
          </a:p>
        </p:txBody>
      </p:sp>
      <p:sp>
        <p:nvSpPr>
          <p:cNvPr id="17" name="Oval 16"/>
          <p:cNvSpPr/>
          <p:nvPr/>
        </p:nvSpPr>
        <p:spPr>
          <a:xfrm>
            <a:off x="7680960" y="4937759"/>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0" y="4937759"/>
            <a:ext cx="411480" cy="41148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4</a:t>
            </a:r>
          </a:p>
        </p:txBody>
      </p:sp>
      <p:sp>
        <p:nvSpPr>
          <p:cNvPr id="19" name="TextBox 18"/>
          <p:cNvSpPr txBox="1"/>
          <p:nvPr/>
        </p:nvSpPr>
        <p:spPr>
          <a:xfrm>
            <a:off x="8275320" y="4919472"/>
            <a:ext cx="3337560" cy="1005839"/>
          </a:xfrm>
          <a:prstGeom prst="rect">
            <a:avLst/>
          </a:prstGeom>
          <a:noFill/>
        </p:spPr>
        <p:txBody>
          <a:bodyPr wrap="square" lIns="0" rIns="0" tIns="0" bIns="0" anchor="t">
            <a:spAutoFit/>
          </a:bodyPr>
          <a:lstStyle/>
          <a:p>
            <a:pPr algn="l">
              <a:spcAft>
                <a:spcPts val="200"/>
              </a:spcAft>
            </a:pPr>
            <a:r>
              <a:rPr sz="1700" b="1" i="0">
                <a:solidFill>
                  <a:srgbClr val="0B3B3C"/>
                </a:solidFill>
                <a:latin typeface="Calibri"/>
              </a:rPr>
              <a:t>Approve</a:t>
            </a:r>
          </a:p>
          <a:p>
            <a:pPr algn="l">
              <a:spcAft>
                <a:spcPts val="200"/>
              </a:spcAft>
            </a:pPr>
            <a:r>
              <a:rPr sz="1500" b="0" i="0">
                <a:solidFill>
                  <a:srgbClr val="1F2A30"/>
                </a:solidFill>
                <a:latin typeface="Calibri"/>
              </a:rPr>
              <a:t>Version increases; history and audit log record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Demo 3: the result everyone sees</a:t>
            </a:r>
          </a:p>
        </p:txBody>
      </p:sp>
      <p:sp>
        <p:nvSpPr>
          <p:cNvPr id="3" name="TextBox 2"/>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4" name="TextBox 3"/>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11 / 16</a:t>
            </a:r>
          </a:p>
        </p:txBody>
      </p:sp>
      <p:sp>
        <p:nvSpPr>
          <p:cNvPr id="5" name="TextBox 4"/>
          <p:cNvSpPr txBox="1"/>
          <p:nvPr/>
        </p:nvSpPr>
        <p:spPr>
          <a:xfrm>
            <a:off x="548640" y="1234440"/>
            <a:ext cx="5394960" cy="411480"/>
          </a:xfrm>
          <a:prstGeom prst="rect">
            <a:avLst/>
          </a:prstGeom>
          <a:noFill/>
        </p:spPr>
        <p:txBody>
          <a:bodyPr wrap="square" lIns="0" rIns="0" tIns="0" bIns="0" anchor="t">
            <a:spAutoFit/>
          </a:bodyPr>
          <a:lstStyle/>
          <a:p>
            <a:pPr algn="l">
              <a:spcAft>
                <a:spcPts val="0"/>
              </a:spcAft>
            </a:pPr>
            <a:r>
              <a:rPr sz="1800" b="1" i="0">
                <a:solidFill>
                  <a:srgbClr val="0B3B3C"/>
                </a:solidFill>
                <a:latin typeface="Calibri"/>
              </a:rPr>
              <a:t>The listing shows the corrected number</a:t>
            </a:r>
          </a:p>
        </p:txBody>
      </p:sp>
      <p:sp>
        <p:nvSpPr>
          <p:cNvPr id="6" name="Rounded Rectangle 5"/>
          <p:cNvSpPr/>
          <p:nvPr/>
        </p:nvSpPr>
        <p:spPr>
          <a:xfrm>
            <a:off x="512063" y="1700784"/>
            <a:ext cx="5468112" cy="4417925"/>
          </a:xfrm>
          <a:prstGeom prst="roundRect">
            <a:avLst>
              <a:gd name="adj" fmla="val 2000"/>
            </a:avLst>
          </a:prstGeom>
          <a:solidFill>
            <a:srgbClr val="FFFFFF"/>
          </a:solidFill>
          <a:ln w="12700">
            <a:solidFill>
              <a:srgbClr val="D5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shot r_place_after" descr="r_place_after_5.9_4.75.png"/>
          <p:cNvPicPr>
            <a:picLocks noChangeAspect="1"/>
          </p:cNvPicPr>
          <p:nvPr/>
        </p:nvPicPr>
        <p:blipFill>
          <a:blip r:embed="rId3"/>
          <a:stretch>
            <a:fillRect/>
          </a:stretch>
        </p:blipFill>
        <p:spPr>
          <a:xfrm>
            <a:off x="548640" y="1737360"/>
            <a:ext cx="5394960" cy="4344773"/>
          </a:xfrm>
          <a:prstGeom prst="rect">
            <a:avLst/>
          </a:prstGeom>
        </p:spPr>
      </p:pic>
      <p:sp>
        <p:nvSpPr>
          <p:cNvPr id="8" name="TextBox 7"/>
          <p:cNvSpPr txBox="1"/>
          <p:nvPr/>
        </p:nvSpPr>
        <p:spPr>
          <a:xfrm>
            <a:off x="6217920" y="1234440"/>
            <a:ext cx="5394960" cy="411480"/>
          </a:xfrm>
          <a:prstGeom prst="rect">
            <a:avLst/>
          </a:prstGeom>
          <a:noFill/>
        </p:spPr>
        <p:txBody>
          <a:bodyPr wrap="square" lIns="0" rIns="0" tIns="0" bIns="0" anchor="t">
            <a:spAutoFit/>
          </a:bodyPr>
          <a:lstStyle/>
          <a:p>
            <a:pPr algn="l">
              <a:spcAft>
                <a:spcPts val="0"/>
              </a:spcAft>
            </a:pPr>
            <a:r>
              <a:rPr sz="1800" b="1" i="0">
                <a:solidFill>
                  <a:srgbClr val="0B3B3C"/>
                </a:solidFill>
                <a:latin typeface="Calibri"/>
              </a:rPr>
              <a:t>Rahul sees Approved and the reason, not the reviewer</a:t>
            </a:r>
          </a:p>
        </p:txBody>
      </p:sp>
      <p:sp>
        <p:nvSpPr>
          <p:cNvPr id="9" name="Rounded Rectangle 8"/>
          <p:cNvSpPr/>
          <p:nvPr/>
        </p:nvSpPr>
        <p:spPr>
          <a:xfrm>
            <a:off x="6181344" y="1700784"/>
            <a:ext cx="5468112" cy="4417925"/>
          </a:xfrm>
          <a:prstGeom prst="roundRect">
            <a:avLst>
              <a:gd name="adj" fmla="val 2000"/>
            </a:avLst>
          </a:prstGeom>
          <a:solidFill>
            <a:srgbClr val="FFFFFF"/>
          </a:solidFill>
          <a:ln w="12700">
            <a:solidFill>
              <a:srgbClr val="D5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shot r_corrections_after" descr="r_corrections_after_5.9_4.75.png"/>
          <p:cNvPicPr>
            <a:picLocks noChangeAspect="1"/>
          </p:cNvPicPr>
          <p:nvPr/>
        </p:nvPicPr>
        <p:blipFill>
          <a:blip r:embed="rId4"/>
          <a:stretch>
            <a:fillRect/>
          </a:stretch>
        </p:blipFill>
        <p:spPr>
          <a:xfrm>
            <a:off x="6217920" y="1737360"/>
            <a:ext cx="5394960" cy="434477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Local events and alerts</a:t>
            </a:r>
          </a:p>
        </p:txBody>
      </p:sp>
      <p:sp>
        <p:nvSpPr>
          <p:cNvPr id="3" name="TextBox 2"/>
          <p:cNvSpPr txBox="1"/>
          <p:nvPr/>
        </p:nvSpPr>
        <p:spPr>
          <a:xfrm>
            <a:off x="548640" y="987552"/>
            <a:ext cx="11064240" cy="365760"/>
          </a:xfrm>
          <a:prstGeom prst="rect">
            <a:avLst/>
          </a:prstGeom>
          <a:noFill/>
        </p:spPr>
        <p:txBody>
          <a:bodyPr wrap="square" lIns="0" rIns="0" tIns="0" bIns="0" anchor="t">
            <a:spAutoFit/>
          </a:bodyPr>
          <a:lstStyle/>
          <a:p>
            <a:pPr algn="l">
              <a:spcAft>
                <a:spcPts val="0"/>
              </a:spcAft>
            </a:pPr>
            <a:r>
              <a:rPr sz="1600" b="0" i="0">
                <a:solidFill>
                  <a:srgbClr val="5B6B70"/>
                </a:solidFill>
                <a:latin typeface="Calibri"/>
              </a:rPr>
              <a:t>Nothing reaches residents without review</a:t>
            </a:r>
          </a:p>
        </p:txBody>
      </p:sp>
      <p:sp>
        <p:nvSpPr>
          <p:cNvPr id="4" name="TextBox 3"/>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5" name="TextBox 4"/>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12 / 16</a:t>
            </a:r>
          </a:p>
        </p:txBody>
      </p:sp>
      <p:sp>
        <p:nvSpPr>
          <p:cNvPr id="6" name="TextBox 5"/>
          <p:cNvSpPr txBox="1"/>
          <p:nvPr/>
        </p:nvSpPr>
        <p:spPr>
          <a:xfrm>
            <a:off x="548640" y="1600200"/>
            <a:ext cx="2651760" cy="2011680"/>
          </a:xfrm>
          <a:prstGeom prst="rect">
            <a:avLst/>
          </a:prstGeom>
          <a:noFill/>
        </p:spPr>
        <p:txBody>
          <a:bodyPr wrap="square" lIns="0" rIns="0" tIns="0" bIns="0" anchor="t">
            <a:spAutoFit/>
          </a:bodyPr>
          <a:lstStyle/>
          <a:p>
            <a:pPr algn="l">
              <a:spcAft>
                <a:spcPts val="600"/>
              </a:spcAft>
            </a:pPr>
            <a:r>
              <a:rPr sz="2000" b="1" i="0">
                <a:solidFill>
                  <a:srgbClr val="0B3B3C"/>
                </a:solidFill>
                <a:latin typeface="Calibri"/>
              </a:rPr>
              <a:t>Events</a:t>
            </a:r>
          </a:p>
          <a:p>
            <a:pPr algn="l">
              <a:spcAft>
                <a:spcPts val="600"/>
              </a:spcAft>
            </a:pPr>
            <a:r>
              <a:rPr sz="1400" b="0" i="0">
                <a:solidFill>
                  <a:srgbClr val="1F2A30"/>
                </a:solidFill>
                <a:latin typeface="Calibri"/>
              </a:rPr>
              <a:t>Resident suggestions wait for the coordinator. Society events pass four independent checks.</a:t>
            </a:r>
          </a:p>
        </p:txBody>
      </p:sp>
      <p:pic>
        <p:nvPicPr>
          <p:cNvPr id="7" name="diagram events" descr="events.png"/>
          <p:cNvPicPr>
            <a:picLocks noChangeAspect="1"/>
          </p:cNvPicPr>
          <p:nvPr/>
        </p:nvPicPr>
        <p:blipFill>
          <a:blip r:embed="rId3"/>
          <a:stretch>
            <a:fillRect/>
          </a:stretch>
        </p:blipFill>
        <p:spPr>
          <a:xfrm>
            <a:off x="3383280" y="1600200"/>
            <a:ext cx="8229600" cy="1906858"/>
          </a:xfrm>
          <a:prstGeom prst="rect">
            <a:avLst/>
          </a:prstGeom>
        </p:spPr>
      </p:pic>
      <p:sp>
        <p:nvSpPr>
          <p:cNvPr id="8" name="TextBox 7"/>
          <p:cNvSpPr txBox="1"/>
          <p:nvPr/>
        </p:nvSpPr>
        <p:spPr>
          <a:xfrm>
            <a:off x="548640" y="3931920"/>
            <a:ext cx="2651760" cy="2194560"/>
          </a:xfrm>
          <a:prstGeom prst="rect">
            <a:avLst/>
          </a:prstGeom>
          <a:noFill/>
        </p:spPr>
        <p:txBody>
          <a:bodyPr wrap="square" lIns="0" rIns="0" tIns="0" bIns="0" anchor="t">
            <a:spAutoFit/>
          </a:bodyPr>
          <a:lstStyle/>
          <a:p>
            <a:pPr algn="l">
              <a:spcAft>
                <a:spcPts val="600"/>
              </a:spcAft>
            </a:pPr>
            <a:r>
              <a:rPr sz="2000" b="1" i="0">
                <a:solidFill>
                  <a:srgbClr val="0B3B3C"/>
                </a:solidFill>
                <a:latin typeface="Calibri"/>
              </a:rPr>
              <a:t>Alerts</a:t>
            </a:r>
          </a:p>
          <a:p>
            <a:pPr algn="l">
              <a:spcAft>
                <a:spcPts val="600"/>
              </a:spcAft>
            </a:pPr>
            <a:r>
              <a:rPr sz="1400" b="0" i="0">
                <a:solidFill>
                  <a:srgbClr val="1F2A30"/>
                </a:solidFill>
                <a:latin typeface="Calibri"/>
              </a:rPr>
              <a:t>Drafted with a named source, published with a recorded reviewer, expire automatically.</a:t>
            </a:r>
          </a:p>
        </p:txBody>
      </p:sp>
      <p:pic>
        <p:nvPicPr>
          <p:cNvPr id="9" name="diagram alerts" descr="alerts.png"/>
          <p:cNvPicPr>
            <a:picLocks noChangeAspect="1"/>
          </p:cNvPicPr>
          <p:nvPr/>
        </p:nvPicPr>
        <p:blipFill>
          <a:blip r:embed="rId4"/>
          <a:stretch>
            <a:fillRect/>
          </a:stretch>
        </p:blipFill>
        <p:spPr>
          <a:xfrm>
            <a:off x="3383280" y="3931920"/>
            <a:ext cx="7981627" cy="2286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Security and privacy by design</a:t>
            </a:r>
          </a:p>
        </p:txBody>
      </p:sp>
      <p:sp>
        <p:nvSpPr>
          <p:cNvPr id="3" name="TextBox 2"/>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4" name="TextBox 3"/>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13 / 16</a:t>
            </a:r>
          </a:p>
        </p:txBody>
      </p:sp>
      <p:sp>
        <p:nvSpPr>
          <p:cNvPr id="5" name="Rounded Rectangle 4"/>
          <p:cNvSpPr/>
          <p:nvPr/>
        </p:nvSpPr>
        <p:spPr>
          <a:xfrm>
            <a:off x="548640" y="1325880"/>
            <a:ext cx="3520440" cy="22860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160020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0020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1</a:t>
            </a:r>
          </a:p>
        </p:txBody>
      </p:sp>
      <p:sp>
        <p:nvSpPr>
          <p:cNvPr id="8" name="TextBox 7"/>
          <p:cNvSpPr txBox="1"/>
          <p:nvPr/>
        </p:nvSpPr>
        <p:spPr>
          <a:xfrm>
            <a:off x="822959" y="219456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Server-side permissions</a:t>
            </a:r>
          </a:p>
        </p:txBody>
      </p:sp>
      <p:sp>
        <p:nvSpPr>
          <p:cNvPr id="9" name="TextBox 8"/>
          <p:cNvSpPr txBox="1"/>
          <p:nvPr/>
        </p:nvSpPr>
        <p:spPr>
          <a:xfrm>
            <a:off x="822959" y="2651760"/>
            <a:ext cx="2971800" cy="822959"/>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The server checks locality.read, .suggest or .manage; the UI hides what the API refuses.</a:t>
            </a:r>
          </a:p>
        </p:txBody>
      </p:sp>
      <p:sp>
        <p:nvSpPr>
          <p:cNvPr id="10" name="Rounded Rectangle 9"/>
          <p:cNvSpPr/>
          <p:nvPr/>
        </p:nvSpPr>
        <p:spPr>
          <a:xfrm>
            <a:off x="4343400" y="1325880"/>
            <a:ext cx="3520440" cy="22860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17720" y="160020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60020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2</a:t>
            </a:r>
          </a:p>
        </p:txBody>
      </p:sp>
      <p:sp>
        <p:nvSpPr>
          <p:cNvPr id="13" name="TextBox 12"/>
          <p:cNvSpPr txBox="1"/>
          <p:nvPr/>
        </p:nvSpPr>
        <p:spPr>
          <a:xfrm>
            <a:off x="4617720" y="219456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Session and CSRF</a:t>
            </a:r>
          </a:p>
        </p:txBody>
      </p:sp>
      <p:sp>
        <p:nvSpPr>
          <p:cNvPr id="14" name="TextBox 13"/>
          <p:cNvSpPr txBox="1"/>
          <p:nvPr/>
        </p:nvSpPr>
        <p:spPr>
          <a:xfrm>
            <a:off x="4617720" y="2651760"/>
            <a:ext cx="2971800" cy="822959"/>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Every write needs the session cookie and a CSRF token, reusing Module 1.</a:t>
            </a:r>
          </a:p>
        </p:txBody>
      </p:sp>
      <p:sp>
        <p:nvSpPr>
          <p:cNvPr id="15" name="Rounded Rectangle 14"/>
          <p:cNvSpPr/>
          <p:nvPr/>
        </p:nvSpPr>
        <p:spPr>
          <a:xfrm>
            <a:off x="8138160" y="1325880"/>
            <a:ext cx="3520440" cy="22860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12480" y="160020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160020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3</a:t>
            </a:r>
          </a:p>
        </p:txBody>
      </p:sp>
      <p:sp>
        <p:nvSpPr>
          <p:cNvPr id="18" name="TextBox 17"/>
          <p:cNvSpPr txBox="1"/>
          <p:nvPr/>
        </p:nvSpPr>
        <p:spPr>
          <a:xfrm>
            <a:off x="8412480" y="219456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Reviewer anonymity</a:t>
            </a:r>
          </a:p>
        </p:txBody>
      </p:sp>
      <p:sp>
        <p:nvSpPr>
          <p:cNvPr id="19" name="TextBox 18"/>
          <p:cNvSpPr txBox="1"/>
          <p:nvPr/>
        </p:nvSpPr>
        <p:spPr>
          <a:xfrm>
            <a:off x="8412480" y="2651760"/>
            <a:ext cx="2971800" cy="822959"/>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Reporters see the decision and reason, never who reviewed it.</a:t>
            </a:r>
          </a:p>
        </p:txBody>
      </p:sp>
      <p:sp>
        <p:nvSpPr>
          <p:cNvPr id="20" name="Rounded Rectangle 19"/>
          <p:cNvSpPr/>
          <p:nvPr/>
        </p:nvSpPr>
        <p:spPr>
          <a:xfrm>
            <a:off x="548640" y="3840480"/>
            <a:ext cx="3520440" cy="22860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959" y="411480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411480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4</a:t>
            </a:r>
          </a:p>
        </p:txBody>
      </p:sp>
      <p:sp>
        <p:nvSpPr>
          <p:cNvPr id="23" name="TextBox 22"/>
          <p:cNvSpPr txBox="1"/>
          <p:nvPr/>
        </p:nvSpPr>
        <p:spPr>
          <a:xfrm>
            <a:off x="822959" y="470916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Full history</a:t>
            </a:r>
          </a:p>
        </p:txBody>
      </p:sp>
      <p:sp>
        <p:nvSpPr>
          <p:cNvPr id="24" name="TextBox 23"/>
          <p:cNvSpPr txBox="1"/>
          <p:nvPr/>
        </p:nvSpPr>
        <p:spPr>
          <a:xfrm>
            <a:off x="822959" y="5166360"/>
            <a:ext cx="2971800" cy="822959"/>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Each change is versioned, kept in append-only history and mirrored to the audit log.</a:t>
            </a:r>
          </a:p>
        </p:txBody>
      </p:sp>
      <p:sp>
        <p:nvSpPr>
          <p:cNvPr id="25" name="Rounded Rectangle 24"/>
          <p:cNvSpPr/>
          <p:nvPr/>
        </p:nvSpPr>
        <p:spPr>
          <a:xfrm>
            <a:off x="4343400" y="3840480"/>
            <a:ext cx="3520440" cy="22860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617720" y="411480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17720" y="411480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5</a:t>
            </a:r>
          </a:p>
        </p:txBody>
      </p:sp>
      <p:sp>
        <p:nvSpPr>
          <p:cNvPr id="28" name="TextBox 27"/>
          <p:cNvSpPr txBox="1"/>
          <p:nvPr/>
        </p:nvSpPr>
        <p:spPr>
          <a:xfrm>
            <a:off x="4617720" y="470916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Safe concurrency</a:t>
            </a:r>
          </a:p>
        </p:txBody>
      </p:sp>
      <p:sp>
        <p:nvSpPr>
          <p:cNvPr id="29" name="TextBox 28"/>
          <p:cNvSpPr txBox="1"/>
          <p:nvPr/>
        </p:nvSpPr>
        <p:spPr>
          <a:xfrm>
            <a:off x="4617720" y="5166360"/>
            <a:ext cx="2971800" cy="822959"/>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Row locks (SELECT … FOR UPDATE) prevent conflicting decisions.</a:t>
            </a:r>
          </a:p>
        </p:txBody>
      </p:sp>
      <p:sp>
        <p:nvSpPr>
          <p:cNvPr id="30" name="Rounded Rectangle 29"/>
          <p:cNvSpPr/>
          <p:nvPr/>
        </p:nvSpPr>
        <p:spPr>
          <a:xfrm>
            <a:off x="8138160" y="3840480"/>
            <a:ext cx="3520440" cy="228600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412480" y="4114800"/>
            <a:ext cx="457200" cy="4572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0" y="4114800"/>
            <a:ext cx="457200" cy="457200"/>
          </a:xfrm>
          <a:prstGeom prst="rect">
            <a:avLst/>
          </a:prstGeom>
          <a:noFill/>
        </p:spPr>
        <p:txBody>
          <a:bodyPr wrap="square" lIns="0" rIns="0" tIns="0" bIns="0" anchor="ctr">
            <a:spAutoFit/>
          </a:bodyPr>
          <a:lstStyle/>
          <a:p>
            <a:pPr algn="ctr">
              <a:spcAft>
                <a:spcPts val="0"/>
              </a:spcAft>
            </a:pPr>
            <a:r>
              <a:rPr sz="1600" b="1" i="0">
                <a:solidFill>
                  <a:srgbClr val="FFFFFF"/>
                </a:solidFill>
                <a:latin typeface="Calibri"/>
              </a:rPr>
              <a:t>6</a:t>
            </a:r>
          </a:p>
        </p:txBody>
      </p:sp>
      <p:sp>
        <p:nvSpPr>
          <p:cNvPr id="33" name="TextBox 32"/>
          <p:cNvSpPr txBox="1"/>
          <p:nvPr/>
        </p:nvSpPr>
        <p:spPr>
          <a:xfrm>
            <a:off x="8412480" y="4709160"/>
            <a:ext cx="2971800" cy="411480"/>
          </a:xfrm>
          <a:prstGeom prst="rect">
            <a:avLst/>
          </a:prstGeom>
          <a:noFill/>
        </p:spPr>
        <p:txBody>
          <a:bodyPr wrap="square" lIns="0" rIns="0" tIns="0" bIns="0" anchor="t">
            <a:spAutoFit/>
          </a:bodyPr>
          <a:lstStyle/>
          <a:p>
            <a:pPr algn="l">
              <a:spcAft>
                <a:spcPts val="0"/>
              </a:spcAft>
            </a:pPr>
            <a:r>
              <a:rPr sz="1900" b="1" i="0">
                <a:solidFill>
                  <a:srgbClr val="0B3B3C"/>
                </a:solidFill>
                <a:latin typeface="Calibri"/>
              </a:rPr>
              <a:t>Abuse limits</a:t>
            </a:r>
          </a:p>
        </p:txBody>
      </p:sp>
      <p:sp>
        <p:nvSpPr>
          <p:cNvPr id="34" name="TextBox 33"/>
          <p:cNvSpPr txBox="1"/>
          <p:nvPr/>
        </p:nvSpPr>
        <p:spPr>
          <a:xfrm>
            <a:off x="8412480" y="5166360"/>
            <a:ext cx="2971800" cy="822959"/>
          </a:xfrm>
          <a:prstGeom prst="rect">
            <a:avLst/>
          </a:prstGeom>
          <a:noFill/>
        </p:spPr>
        <p:txBody>
          <a:bodyPr wrap="square" lIns="0" rIns="0" tIns="0" bIns="0" anchor="t">
            <a:spAutoFit/>
          </a:bodyPr>
          <a:lstStyle/>
          <a:p>
            <a:pPr algn="l">
              <a:spcAft>
                <a:spcPts val="0"/>
              </a:spcAft>
            </a:pPr>
            <a:r>
              <a:rPr sz="1500" b="0" i="0">
                <a:solidFill>
                  <a:srgbClr val="1F2A30"/>
                </a:solidFill>
                <a:latin typeface="Calibri"/>
              </a:rPr>
              <a:t>One open report per field, at most 10 open reports; search wildcards escaped.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Tested, not just written</a:t>
            </a:r>
          </a:p>
        </p:txBody>
      </p:sp>
      <p:sp>
        <p:nvSpPr>
          <p:cNvPr id="3" name="TextBox 2"/>
          <p:cNvSpPr txBox="1"/>
          <p:nvPr/>
        </p:nvSpPr>
        <p:spPr>
          <a:xfrm>
            <a:off x="548640" y="987552"/>
            <a:ext cx="11064240" cy="365760"/>
          </a:xfrm>
          <a:prstGeom prst="rect">
            <a:avLst/>
          </a:prstGeom>
          <a:noFill/>
        </p:spPr>
        <p:txBody>
          <a:bodyPr wrap="square" lIns="0" rIns="0" tIns="0" bIns="0" anchor="t">
            <a:spAutoFit/>
          </a:bodyPr>
          <a:lstStyle/>
          <a:p>
            <a:pPr algn="l">
              <a:spcAft>
                <a:spcPts val="0"/>
              </a:spcAft>
            </a:pPr>
            <a:r>
              <a:rPr sz="1600" b="0" i="0">
                <a:solidFill>
                  <a:srgbClr val="5B6B70"/>
                </a:solidFill>
                <a:latin typeface="Calibri"/>
              </a:rPr>
              <a:t>All results come from actually running the checks on 29 October 2026</a:t>
            </a:r>
          </a:p>
        </p:txBody>
      </p:sp>
      <p:sp>
        <p:nvSpPr>
          <p:cNvPr id="4" name="TextBox 3"/>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5" name="TextBox 4"/>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14 / 16</a:t>
            </a:r>
          </a:p>
        </p:txBody>
      </p:sp>
      <p:sp>
        <p:nvSpPr>
          <p:cNvPr id="6" name="Rounded Rectangle 5"/>
          <p:cNvSpPr/>
          <p:nvPr/>
        </p:nvSpPr>
        <p:spPr>
          <a:xfrm>
            <a:off x="548640" y="1600200"/>
            <a:ext cx="2606040" cy="237744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2423160" cy="914400"/>
          </a:xfrm>
          <a:prstGeom prst="rect">
            <a:avLst/>
          </a:prstGeom>
          <a:noFill/>
        </p:spPr>
        <p:txBody>
          <a:bodyPr wrap="square" lIns="0" rIns="0" tIns="0" bIns="0" anchor="ctr">
            <a:spAutoFit/>
          </a:bodyPr>
          <a:lstStyle/>
          <a:p>
            <a:pPr algn="ctr">
              <a:spcAft>
                <a:spcPts val="0"/>
              </a:spcAft>
            </a:pPr>
            <a:r>
              <a:rPr sz="3800" b="1" i="0">
                <a:solidFill>
                  <a:srgbClr val="0F7B6C"/>
                </a:solidFill>
                <a:latin typeface="Calibri"/>
              </a:rPr>
              <a:t>250 / 250</a:t>
            </a:r>
          </a:p>
        </p:txBody>
      </p:sp>
      <p:sp>
        <p:nvSpPr>
          <p:cNvPr id="8" name="TextBox 7"/>
          <p:cNvSpPr txBox="1"/>
          <p:nvPr/>
        </p:nvSpPr>
        <p:spPr>
          <a:xfrm>
            <a:off x="731520" y="2788920"/>
            <a:ext cx="2240280" cy="1005840"/>
          </a:xfrm>
          <a:prstGeom prst="rect">
            <a:avLst/>
          </a:prstGeom>
          <a:noFill/>
        </p:spPr>
        <p:txBody>
          <a:bodyPr wrap="square" lIns="0" rIns="0" tIns="0" bIns="0" anchor="t">
            <a:spAutoFit/>
          </a:bodyPr>
          <a:lstStyle/>
          <a:p>
            <a:pPr algn="ctr">
              <a:spcAft>
                <a:spcPts val="0"/>
              </a:spcAft>
            </a:pPr>
            <a:r>
              <a:rPr sz="1500" b="0" i="0">
                <a:solidFill>
                  <a:srgbClr val="1F2A30"/>
                </a:solidFill>
                <a:latin typeface="Calibri"/>
              </a:rPr>
              <a:t>backend tests pass</a:t>
            </a:r>
          </a:p>
          <a:p>
            <a:pPr algn="ctr">
              <a:spcAft>
                <a:spcPts val="0"/>
              </a:spcAft>
            </a:pPr>
            <a:r>
              <a:rPr sz="1500" b="0" i="0">
                <a:solidFill>
                  <a:srgbClr val="1F2A30"/>
                </a:solidFill>
                <a:latin typeface="Calibri"/>
              </a:rPr>
              <a:t>(15 new for Module 4)</a:t>
            </a:r>
          </a:p>
        </p:txBody>
      </p:sp>
      <p:sp>
        <p:nvSpPr>
          <p:cNvPr id="9" name="Rounded Rectangle 8"/>
          <p:cNvSpPr/>
          <p:nvPr/>
        </p:nvSpPr>
        <p:spPr>
          <a:xfrm>
            <a:off x="3364992" y="1600200"/>
            <a:ext cx="2606040" cy="237744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1783080"/>
            <a:ext cx="2423160" cy="914400"/>
          </a:xfrm>
          <a:prstGeom prst="rect">
            <a:avLst/>
          </a:prstGeom>
          <a:noFill/>
        </p:spPr>
        <p:txBody>
          <a:bodyPr wrap="square" lIns="0" rIns="0" tIns="0" bIns="0" anchor="ctr">
            <a:spAutoFit/>
          </a:bodyPr>
          <a:lstStyle/>
          <a:p>
            <a:pPr algn="ctr">
              <a:spcAft>
                <a:spcPts val="0"/>
              </a:spcAft>
            </a:pPr>
            <a:r>
              <a:rPr sz="3800" b="1" i="0">
                <a:solidFill>
                  <a:srgbClr val="0F7B6C"/>
                </a:solidFill>
                <a:latin typeface="Calibri"/>
              </a:rPr>
              <a:t>92 / 92</a:t>
            </a:r>
          </a:p>
        </p:txBody>
      </p:sp>
      <p:sp>
        <p:nvSpPr>
          <p:cNvPr id="11" name="TextBox 10"/>
          <p:cNvSpPr txBox="1"/>
          <p:nvPr/>
        </p:nvSpPr>
        <p:spPr>
          <a:xfrm>
            <a:off x="3547872" y="2788920"/>
            <a:ext cx="2240280" cy="1005840"/>
          </a:xfrm>
          <a:prstGeom prst="rect">
            <a:avLst/>
          </a:prstGeom>
          <a:noFill/>
        </p:spPr>
        <p:txBody>
          <a:bodyPr wrap="square" lIns="0" rIns="0" tIns="0" bIns="0" anchor="t">
            <a:spAutoFit/>
          </a:bodyPr>
          <a:lstStyle/>
          <a:p>
            <a:pPr algn="ctr">
              <a:spcAft>
                <a:spcPts val="0"/>
              </a:spcAft>
            </a:pPr>
            <a:r>
              <a:rPr sz="1500" b="0" i="0">
                <a:solidFill>
                  <a:srgbClr val="1F2A30"/>
                </a:solidFill>
                <a:latin typeface="Calibri"/>
              </a:rPr>
              <a:t>frontend tests pass</a:t>
            </a:r>
          </a:p>
          <a:p>
            <a:pPr algn="ctr">
              <a:spcAft>
                <a:spcPts val="0"/>
              </a:spcAft>
            </a:pPr>
            <a:r>
              <a:rPr sz="1500" b="0" i="0">
                <a:solidFill>
                  <a:srgbClr val="1F2A30"/>
                </a:solidFill>
                <a:latin typeface="Calibri"/>
              </a:rPr>
              <a:t>(12 new for Module 4)</a:t>
            </a:r>
          </a:p>
        </p:txBody>
      </p:sp>
      <p:sp>
        <p:nvSpPr>
          <p:cNvPr id="12" name="Rounded Rectangle 11"/>
          <p:cNvSpPr/>
          <p:nvPr/>
        </p:nvSpPr>
        <p:spPr>
          <a:xfrm>
            <a:off x="6181344" y="1600200"/>
            <a:ext cx="2606040" cy="237744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2783" y="1783080"/>
            <a:ext cx="2423160" cy="914400"/>
          </a:xfrm>
          <a:prstGeom prst="rect">
            <a:avLst/>
          </a:prstGeom>
          <a:noFill/>
        </p:spPr>
        <p:txBody>
          <a:bodyPr wrap="square" lIns="0" rIns="0" tIns="0" bIns="0" anchor="ctr">
            <a:spAutoFit/>
          </a:bodyPr>
          <a:lstStyle/>
          <a:p>
            <a:pPr algn="ctr">
              <a:spcAft>
                <a:spcPts val="0"/>
              </a:spcAft>
            </a:pPr>
            <a:r>
              <a:rPr sz="3800" b="1" i="0">
                <a:solidFill>
                  <a:srgbClr val="0F7B6C"/>
                </a:solidFill>
                <a:latin typeface="Calibri"/>
              </a:rPr>
              <a:t>15 / 15</a:t>
            </a:r>
          </a:p>
        </p:txBody>
      </p:sp>
      <p:sp>
        <p:nvSpPr>
          <p:cNvPr id="14" name="TextBox 13"/>
          <p:cNvSpPr txBox="1"/>
          <p:nvPr/>
        </p:nvSpPr>
        <p:spPr>
          <a:xfrm>
            <a:off x="6364224" y="2788920"/>
            <a:ext cx="2240280" cy="1005840"/>
          </a:xfrm>
          <a:prstGeom prst="rect">
            <a:avLst/>
          </a:prstGeom>
          <a:noFill/>
        </p:spPr>
        <p:txBody>
          <a:bodyPr wrap="square" lIns="0" rIns="0" tIns="0" bIns="0" anchor="t">
            <a:spAutoFit/>
          </a:bodyPr>
          <a:lstStyle/>
          <a:p>
            <a:pPr algn="ctr">
              <a:spcAft>
                <a:spcPts val="0"/>
              </a:spcAft>
            </a:pPr>
            <a:r>
              <a:rPr sz="1500" b="0" i="0">
                <a:solidFill>
                  <a:srgbClr val="1F2A30"/>
                </a:solidFill>
                <a:latin typeface="Calibri"/>
              </a:rPr>
              <a:t>end-to-end HTTP</a:t>
            </a:r>
          </a:p>
          <a:p>
            <a:pPr algn="ctr">
              <a:spcAft>
                <a:spcPts val="0"/>
              </a:spcAft>
            </a:pPr>
            <a:r>
              <a:rPr sz="1500" b="0" i="0">
                <a:solidFill>
                  <a:srgbClr val="1F2A30"/>
                </a:solidFill>
                <a:latin typeface="Calibri"/>
              </a:rPr>
              <a:t>demo steps pass</a:t>
            </a:r>
          </a:p>
        </p:txBody>
      </p:sp>
      <p:sp>
        <p:nvSpPr>
          <p:cNvPr id="15" name="Rounded Rectangle 14"/>
          <p:cNvSpPr/>
          <p:nvPr/>
        </p:nvSpPr>
        <p:spPr>
          <a:xfrm>
            <a:off x="8997696" y="1600200"/>
            <a:ext cx="2606040" cy="237744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89136" y="1783080"/>
            <a:ext cx="2423160" cy="914400"/>
          </a:xfrm>
          <a:prstGeom prst="rect">
            <a:avLst/>
          </a:prstGeom>
          <a:noFill/>
        </p:spPr>
        <p:txBody>
          <a:bodyPr wrap="square" lIns="0" rIns="0" tIns="0" bIns="0" anchor="ctr">
            <a:spAutoFit/>
          </a:bodyPr>
          <a:lstStyle/>
          <a:p>
            <a:pPr algn="ctr">
              <a:spcAft>
                <a:spcPts val="0"/>
              </a:spcAft>
            </a:pPr>
            <a:r>
              <a:rPr sz="3800" b="1" i="0">
                <a:solidFill>
                  <a:srgbClr val="0F7B6C"/>
                </a:solidFill>
                <a:latin typeface="Calibri"/>
              </a:rPr>
              <a:t>37</a:t>
            </a:r>
          </a:p>
        </p:txBody>
      </p:sp>
      <p:sp>
        <p:nvSpPr>
          <p:cNvPr id="17" name="TextBox 16"/>
          <p:cNvSpPr txBox="1"/>
          <p:nvPr/>
        </p:nvSpPr>
        <p:spPr>
          <a:xfrm>
            <a:off x="9180576" y="2788920"/>
            <a:ext cx="2240280" cy="1005840"/>
          </a:xfrm>
          <a:prstGeom prst="rect">
            <a:avLst/>
          </a:prstGeom>
          <a:noFill/>
        </p:spPr>
        <p:txBody>
          <a:bodyPr wrap="square" lIns="0" rIns="0" tIns="0" bIns="0" anchor="t">
            <a:spAutoFit/>
          </a:bodyPr>
          <a:lstStyle/>
          <a:p>
            <a:pPr algn="ctr">
              <a:spcAft>
                <a:spcPts val="0"/>
              </a:spcAft>
            </a:pPr>
            <a:r>
              <a:rPr sz="1500" b="0" i="0">
                <a:solidFill>
                  <a:srgbClr val="1F2A30"/>
                </a:solidFill>
                <a:latin typeface="Calibri"/>
              </a:rPr>
              <a:t>API operations</a:t>
            </a:r>
          </a:p>
          <a:p>
            <a:pPr algn="ctr">
              <a:spcAft>
                <a:spcPts val="0"/>
              </a:spcAft>
            </a:pPr>
            <a:r>
              <a:rPr sz="1500" b="0" i="0">
                <a:solidFill>
                  <a:srgbClr val="1F2A30"/>
                </a:solidFill>
                <a:latin typeface="Calibri"/>
              </a:rPr>
              <a:t>documented in OpenAPI</a:t>
            </a:r>
          </a:p>
        </p:txBody>
      </p:sp>
      <p:sp>
        <p:nvSpPr>
          <p:cNvPr id="18" name="Oval 17"/>
          <p:cNvSpPr/>
          <p:nvPr/>
        </p:nvSpPr>
        <p:spPr>
          <a:xfrm>
            <a:off x="548640" y="4343400"/>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343400"/>
            <a:ext cx="411480" cy="411480"/>
          </a:xfrm>
          <a:prstGeom prst="rect">
            <a:avLst/>
          </a:prstGeom>
          <a:noFill/>
        </p:spPr>
        <p:txBody>
          <a:bodyPr wrap="square" lIns="0" rIns="0" tIns="0" bIns="0" anchor="ctr">
            <a:spAutoFit/>
          </a:bodyPr>
          <a:lstStyle/>
          <a:p>
            <a:pPr algn="ctr">
              <a:spcAft>
                <a:spcPts val="0"/>
              </a:spcAft>
            </a:pPr>
            <a:r>
              <a:rPr sz="1600" b="1" i="0">
                <a:solidFill>
                  <a:srgbClr val="FFFFFF"/>
                </a:solidFill>
                <a:latin typeface="Segoe UI Symbol"/>
              </a:rPr>
              <a:t>✓</a:t>
            </a:r>
          </a:p>
        </p:txBody>
      </p:sp>
      <p:sp>
        <p:nvSpPr>
          <p:cNvPr id="20" name="TextBox 19"/>
          <p:cNvSpPr txBox="1"/>
          <p:nvPr/>
        </p:nvSpPr>
        <p:spPr>
          <a:xfrm>
            <a:off x="1143000" y="4343400"/>
            <a:ext cx="10424160" cy="411480"/>
          </a:xfrm>
          <a:prstGeom prst="rect">
            <a:avLst/>
          </a:prstGeom>
          <a:noFill/>
        </p:spPr>
        <p:txBody>
          <a:bodyPr wrap="square" lIns="0" rIns="0" tIns="0" bIns="0" anchor="ctr">
            <a:spAutoFit/>
          </a:bodyPr>
          <a:lstStyle/>
          <a:p>
            <a:pPr algn="l">
              <a:spcAft>
                <a:spcPts val="0"/>
              </a:spcAft>
            </a:pPr>
            <a:r>
              <a:rPr sz="1600" b="0" i="0">
                <a:solidFill>
                  <a:srgbClr val="1F2A30"/>
                </a:solidFill>
                <a:latin typeface="Calibri"/>
              </a:rPr>
              <a:t>TypeScript type check, ESLint and Next.js production build: clean</a:t>
            </a:r>
          </a:p>
        </p:txBody>
      </p:sp>
      <p:sp>
        <p:nvSpPr>
          <p:cNvPr id="21" name="Oval 20"/>
          <p:cNvSpPr/>
          <p:nvPr/>
        </p:nvSpPr>
        <p:spPr>
          <a:xfrm>
            <a:off x="548640" y="4965192"/>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965192"/>
            <a:ext cx="411480" cy="411480"/>
          </a:xfrm>
          <a:prstGeom prst="rect">
            <a:avLst/>
          </a:prstGeom>
          <a:noFill/>
        </p:spPr>
        <p:txBody>
          <a:bodyPr wrap="square" lIns="0" rIns="0" tIns="0" bIns="0" anchor="ctr">
            <a:spAutoFit/>
          </a:bodyPr>
          <a:lstStyle/>
          <a:p>
            <a:pPr algn="ctr">
              <a:spcAft>
                <a:spcPts val="0"/>
              </a:spcAft>
            </a:pPr>
            <a:r>
              <a:rPr sz="1600" b="1" i="0">
                <a:solidFill>
                  <a:srgbClr val="FFFFFF"/>
                </a:solidFill>
                <a:latin typeface="Segoe UI Symbol"/>
              </a:rPr>
              <a:t>✓</a:t>
            </a:r>
          </a:p>
        </p:txBody>
      </p:sp>
      <p:sp>
        <p:nvSpPr>
          <p:cNvPr id="23" name="TextBox 22"/>
          <p:cNvSpPr txBox="1"/>
          <p:nvPr/>
        </p:nvSpPr>
        <p:spPr>
          <a:xfrm>
            <a:off x="1143000" y="4965192"/>
            <a:ext cx="10424160" cy="411480"/>
          </a:xfrm>
          <a:prstGeom prst="rect">
            <a:avLst/>
          </a:prstGeom>
          <a:noFill/>
        </p:spPr>
        <p:txBody>
          <a:bodyPr wrap="square" lIns="0" rIns="0" tIns="0" bIns="0" anchor="ctr">
            <a:spAutoFit/>
          </a:bodyPr>
          <a:lstStyle/>
          <a:p>
            <a:pPr algn="l">
              <a:spcAft>
                <a:spcPts val="0"/>
              </a:spcAft>
            </a:pPr>
            <a:r>
              <a:rPr sz="1600" b="0" i="0">
                <a:solidFill>
                  <a:srgbClr val="1F2A30"/>
                </a:solidFill>
                <a:latin typeface="Calibri"/>
              </a:rPr>
              <a:t>Migration applied to PostgreSQL; flask db check reports no schema drift</a:t>
            </a:r>
          </a:p>
        </p:txBody>
      </p:sp>
      <p:sp>
        <p:nvSpPr>
          <p:cNvPr id="24" name="Oval 23"/>
          <p:cNvSpPr/>
          <p:nvPr/>
        </p:nvSpPr>
        <p:spPr>
          <a:xfrm>
            <a:off x="548640" y="5586984"/>
            <a:ext cx="411480" cy="41148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586984"/>
            <a:ext cx="411480" cy="411480"/>
          </a:xfrm>
          <a:prstGeom prst="rect">
            <a:avLst/>
          </a:prstGeom>
          <a:noFill/>
        </p:spPr>
        <p:txBody>
          <a:bodyPr wrap="square" lIns="0" rIns="0" tIns="0" bIns="0" anchor="ctr">
            <a:spAutoFit/>
          </a:bodyPr>
          <a:lstStyle/>
          <a:p>
            <a:pPr algn="ctr">
              <a:spcAft>
                <a:spcPts val="0"/>
              </a:spcAft>
            </a:pPr>
            <a:r>
              <a:rPr sz="1600" b="1" i="0">
                <a:solidFill>
                  <a:srgbClr val="FFFFFF"/>
                </a:solidFill>
                <a:latin typeface="Segoe UI Symbol"/>
              </a:rPr>
              <a:t>✓</a:t>
            </a:r>
          </a:p>
        </p:txBody>
      </p:sp>
      <p:sp>
        <p:nvSpPr>
          <p:cNvPr id="26" name="TextBox 25"/>
          <p:cNvSpPr txBox="1"/>
          <p:nvPr/>
        </p:nvSpPr>
        <p:spPr>
          <a:xfrm>
            <a:off x="1143000" y="5586984"/>
            <a:ext cx="10424160" cy="411480"/>
          </a:xfrm>
          <a:prstGeom prst="rect">
            <a:avLst/>
          </a:prstGeom>
          <a:noFill/>
        </p:spPr>
        <p:txBody>
          <a:bodyPr wrap="square" lIns="0" rIns="0" tIns="0" bIns="0" anchor="ctr">
            <a:spAutoFit/>
          </a:bodyPr>
          <a:lstStyle/>
          <a:p>
            <a:pPr algn="l">
              <a:spcAft>
                <a:spcPts val="0"/>
              </a:spcAft>
            </a:pPr>
            <a:r>
              <a:rPr sz="1600" b="0" i="0">
                <a:solidFill>
                  <a:srgbClr val="1F2A30"/>
                </a:solidFill>
                <a:latin typeface="Calibri"/>
              </a:rPr>
              <a:t>Seed script is repeat-safe: 16 listings created, then 0 on a second run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685800"/>
          </a:xfrm>
          <a:prstGeom prst="rect">
            <a:avLst/>
          </a:prstGeom>
          <a:noFill/>
        </p:spPr>
        <p:txBody>
          <a:bodyPr wrap="square" lIns="0" rIns="0" tIns="0" bIns="0" anchor="t">
            <a:spAutoFit/>
          </a:bodyPr>
          <a:lstStyle/>
          <a:p>
            <a:pPr algn="l">
              <a:spcAft>
                <a:spcPts val="0"/>
              </a:spcAft>
            </a:pPr>
            <a:r>
              <a:rPr sz="3400" b="1" i="0">
                <a:solidFill>
                  <a:srgbClr val="0B3B3C"/>
                </a:solidFill>
                <a:latin typeface="Calibri"/>
              </a:rPr>
              <a:t>Limitations and next steps</a:t>
            </a:r>
          </a:p>
        </p:txBody>
      </p:sp>
      <p:sp>
        <p:nvSpPr>
          <p:cNvPr id="3" name="TextBox 2"/>
          <p:cNvSpPr txBox="1"/>
          <p:nvPr/>
        </p:nvSpPr>
        <p:spPr>
          <a:xfrm>
            <a:off x="548640" y="6419088"/>
            <a:ext cx="6400800" cy="274320"/>
          </a:xfrm>
          <a:prstGeom prst="rect">
            <a:avLst/>
          </a:prstGeom>
          <a:noFill/>
        </p:spPr>
        <p:txBody>
          <a:bodyPr wrap="square" lIns="0" rIns="0" tIns="0" bIns="0" anchor="t">
            <a:spAutoFit/>
          </a:bodyPr>
          <a:lstStyle/>
          <a:p>
            <a:pPr algn="l">
              <a:spcAft>
                <a:spcPts val="0"/>
              </a:spcAft>
            </a:pPr>
            <a:r>
              <a:rPr sz="1000" b="0" i="0">
                <a:solidFill>
                  <a:srgbClr val="5B6B70"/>
                </a:solidFill>
                <a:latin typeface="Calibri"/>
              </a:rPr>
              <a:t>KNOWALL · Module 4 — Locality Intelligence &amp; Community Discovery</a:t>
            </a:r>
          </a:p>
        </p:txBody>
      </p:sp>
      <p:sp>
        <p:nvSpPr>
          <p:cNvPr id="4" name="TextBox 3"/>
          <p:cNvSpPr txBox="1"/>
          <p:nvPr/>
        </p:nvSpPr>
        <p:spPr>
          <a:xfrm>
            <a:off x="9784080" y="6419088"/>
            <a:ext cx="1856231" cy="274320"/>
          </a:xfrm>
          <a:prstGeom prst="rect">
            <a:avLst/>
          </a:prstGeom>
          <a:noFill/>
        </p:spPr>
        <p:txBody>
          <a:bodyPr wrap="square" lIns="0" rIns="0" tIns="0" bIns="0" anchor="t">
            <a:spAutoFit/>
          </a:bodyPr>
          <a:lstStyle/>
          <a:p>
            <a:pPr algn="r">
              <a:spcAft>
                <a:spcPts val="0"/>
              </a:spcAft>
            </a:pPr>
            <a:r>
              <a:rPr sz="1000" b="0" i="0">
                <a:solidFill>
                  <a:srgbClr val="5B6B70"/>
                </a:solidFill>
                <a:latin typeface="Calibri"/>
              </a:rPr>
              <a:t>15 / 16</a:t>
            </a:r>
          </a:p>
        </p:txBody>
      </p:sp>
      <p:sp>
        <p:nvSpPr>
          <p:cNvPr id="5" name="TextBox 4"/>
          <p:cNvSpPr txBox="1"/>
          <p:nvPr/>
        </p:nvSpPr>
        <p:spPr>
          <a:xfrm>
            <a:off x="548640" y="1280160"/>
            <a:ext cx="5120640" cy="365760"/>
          </a:xfrm>
          <a:prstGeom prst="rect">
            <a:avLst/>
          </a:prstGeom>
          <a:noFill/>
        </p:spPr>
        <p:txBody>
          <a:bodyPr wrap="square" lIns="0" rIns="0" tIns="0" bIns="0" anchor="t">
            <a:spAutoFit/>
          </a:bodyPr>
          <a:lstStyle/>
          <a:p>
            <a:pPr algn="l">
              <a:spcAft>
                <a:spcPts val="0"/>
              </a:spcAft>
            </a:pPr>
            <a:r>
              <a:rPr sz="1600" b="1" i="0">
                <a:solidFill>
                  <a:srgbClr val="5B6B70"/>
                </a:solidFill>
                <a:latin typeface="Calibri"/>
              </a:rPr>
              <a:t>Limitation</a:t>
            </a:r>
          </a:p>
        </p:txBody>
      </p:sp>
      <p:sp>
        <p:nvSpPr>
          <p:cNvPr id="6" name="TextBox 5"/>
          <p:cNvSpPr txBox="1"/>
          <p:nvPr/>
        </p:nvSpPr>
        <p:spPr>
          <a:xfrm>
            <a:off x="6309360" y="1280160"/>
            <a:ext cx="5303520" cy="365760"/>
          </a:xfrm>
          <a:prstGeom prst="rect">
            <a:avLst/>
          </a:prstGeom>
          <a:noFill/>
        </p:spPr>
        <p:txBody>
          <a:bodyPr wrap="square" lIns="0" rIns="0" tIns="0" bIns="0" anchor="t">
            <a:spAutoFit/>
          </a:bodyPr>
          <a:lstStyle/>
          <a:p>
            <a:pPr algn="l">
              <a:spcAft>
                <a:spcPts val="0"/>
              </a:spcAft>
            </a:pPr>
            <a:r>
              <a:rPr sz="1600" b="1" i="0">
                <a:solidFill>
                  <a:srgbClr val="5B6B70"/>
                </a:solidFill>
                <a:latin typeface="Calibri"/>
              </a:rPr>
              <a:t>Next step</a:t>
            </a:r>
          </a:p>
        </p:txBody>
      </p:sp>
      <p:sp>
        <p:nvSpPr>
          <p:cNvPr id="7" name="Rounded Rectangle 6"/>
          <p:cNvSpPr/>
          <p:nvPr/>
        </p:nvSpPr>
        <p:spPr>
          <a:xfrm>
            <a:off x="548640" y="1737360"/>
            <a:ext cx="5120640" cy="731520"/>
          </a:xfrm>
          <a:prstGeom prst="roundRect">
            <a:avLst>
              <a:gd name="adj" fmla="val 6000"/>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4754880" cy="731520"/>
          </a:xfrm>
          <a:prstGeom prst="rect">
            <a:avLst/>
          </a:prstGeom>
          <a:noFill/>
        </p:spPr>
        <p:txBody>
          <a:bodyPr wrap="square" lIns="0" rIns="0" tIns="0" bIns="0" anchor="ctr">
            <a:spAutoFit/>
          </a:bodyPr>
          <a:lstStyle/>
          <a:p>
            <a:pPr algn="l">
              <a:spcAft>
                <a:spcPts val="0"/>
              </a:spcAft>
            </a:pPr>
            <a:r>
              <a:rPr sz="1600" b="1" i="0">
                <a:solidFill>
                  <a:srgbClr val="1F2A30"/>
                </a:solidFill>
                <a:latin typeface="Calibri"/>
              </a:rPr>
              <a:t>Schematic map, not street tiles</a:t>
            </a:r>
          </a:p>
        </p:txBody>
      </p:sp>
      <p:sp>
        <p:nvSpPr>
          <p:cNvPr id="9" name="TextBox 8"/>
          <p:cNvSpPr txBox="1"/>
          <p:nvPr/>
        </p:nvSpPr>
        <p:spPr>
          <a:xfrm>
            <a:off x="5715000" y="1737360"/>
            <a:ext cx="548640" cy="731520"/>
          </a:xfrm>
          <a:prstGeom prst="rect">
            <a:avLst/>
          </a:prstGeom>
          <a:noFill/>
        </p:spPr>
        <p:txBody>
          <a:bodyPr wrap="square" lIns="0" rIns="0" tIns="0" bIns="0" anchor="ctr">
            <a:spAutoFit/>
          </a:bodyPr>
          <a:lstStyle/>
          <a:p>
            <a:pPr algn="ctr">
              <a:spcAft>
                <a:spcPts val="0"/>
              </a:spcAft>
            </a:pPr>
            <a:r>
              <a:rPr sz="2200" b="1" i="0">
                <a:solidFill>
                  <a:srgbClr val="0F7B6C"/>
                </a:solidFill>
                <a:latin typeface="Calibri"/>
              </a:rPr>
              <a:t>→</a:t>
            </a:r>
          </a:p>
        </p:txBody>
      </p:sp>
      <p:sp>
        <p:nvSpPr>
          <p:cNvPr id="10" name="Rounded Rectangle 9"/>
          <p:cNvSpPr/>
          <p:nvPr/>
        </p:nvSpPr>
        <p:spPr>
          <a:xfrm>
            <a:off x="6309360" y="1737360"/>
            <a:ext cx="5303520" cy="73152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737360"/>
            <a:ext cx="4937760" cy="731520"/>
          </a:xfrm>
          <a:prstGeom prst="rect">
            <a:avLst/>
          </a:prstGeom>
          <a:noFill/>
        </p:spPr>
        <p:txBody>
          <a:bodyPr wrap="square" lIns="0" rIns="0" tIns="0" bIns="0" anchor="ctr">
            <a:spAutoFit/>
          </a:bodyPr>
          <a:lstStyle/>
          <a:p>
            <a:pPr algn="l">
              <a:spcAft>
                <a:spcPts val="0"/>
              </a:spcAft>
            </a:pPr>
            <a:r>
              <a:rPr sz="1600" b="0" i="0">
                <a:solidFill>
                  <a:srgbClr val="0B3B3C"/>
                </a:solidFill>
                <a:latin typeface="Calibri"/>
              </a:rPr>
              <a:t>Tile map once real, sourced listings exist</a:t>
            </a:r>
          </a:p>
        </p:txBody>
      </p:sp>
      <p:sp>
        <p:nvSpPr>
          <p:cNvPr id="12" name="Rounded Rectangle 11"/>
          <p:cNvSpPr/>
          <p:nvPr/>
        </p:nvSpPr>
        <p:spPr>
          <a:xfrm>
            <a:off x="548640" y="2633472"/>
            <a:ext cx="5120640" cy="731520"/>
          </a:xfrm>
          <a:prstGeom prst="roundRect">
            <a:avLst>
              <a:gd name="adj" fmla="val 6000"/>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633472"/>
            <a:ext cx="4754880" cy="731520"/>
          </a:xfrm>
          <a:prstGeom prst="rect">
            <a:avLst/>
          </a:prstGeom>
          <a:noFill/>
        </p:spPr>
        <p:txBody>
          <a:bodyPr wrap="square" lIns="0" rIns="0" tIns="0" bIns="0" anchor="ctr">
            <a:spAutoFit/>
          </a:bodyPr>
          <a:lstStyle/>
          <a:p>
            <a:pPr algn="l">
              <a:spcAft>
                <a:spcPts val="0"/>
              </a:spcAft>
            </a:pPr>
            <a:r>
              <a:rPr sz="1600" b="1" i="0">
                <a:solidFill>
                  <a:srgbClr val="1F2A30"/>
                </a:solidFill>
                <a:latin typeface="Calibri"/>
              </a:rPr>
              <a:t>No notifications yet</a:t>
            </a:r>
          </a:p>
        </p:txBody>
      </p:sp>
      <p:sp>
        <p:nvSpPr>
          <p:cNvPr id="14" name="TextBox 13"/>
          <p:cNvSpPr txBox="1"/>
          <p:nvPr/>
        </p:nvSpPr>
        <p:spPr>
          <a:xfrm>
            <a:off x="5715000" y="2633472"/>
            <a:ext cx="548640" cy="731520"/>
          </a:xfrm>
          <a:prstGeom prst="rect">
            <a:avLst/>
          </a:prstGeom>
          <a:noFill/>
        </p:spPr>
        <p:txBody>
          <a:bodyPr wrap="square" lIns="0" rIns="0" tIns="0" bIns="0" anchor="ctr">
            <a:spAutoFit/>
          </a:bodyPr>
          <a:lstStyle/>
          <a:p>
            <a:pPr algn="ctr">
              <a:spcAft>
                <a:spcPts val="0"/>
              </a:spcAft>
            </a:pPr>
            <a:r>
              <a:rPr sz="2200" b="1" i="0">
                <a:solidFill>
                  <a:srgbClr val="0F7B6C"/>
                </a:solidFill>
                <a:latin typeface="Calibri"/>
              </a:rPr>
              <a:t>→</a:t>
            </a:r>
          </a:p>
        </p:txBody>
      </p:sp>
      <p:sp>
        <p:nvSpPr>
          <p:cNvPr id="15" name="Rounded Rectangle 14"/>
          <p:cNvSpPr/>
          <p:nvPr/>
        </p:nvSpPr>
        <p:spPr>
          <a:xfrm>
            <a:off x="6309360" y="2633472"/>
            <a:ext cx="5303520" cy="73152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633472"/>
            <a:ext cx="4937760" cy="731520"/>
          </a:xfrm>
          <a:prstGeom prst="rect">
            <a:avLst/>
          </a:prstGeom>
          <a:noFill/>
        </p:spPr>
        <p:txBody>
          <a:bodyPr wrap="square" lIns="0" rIns="0" tIns="0" bIns="0" anchor="ctr">
            <a:spAutoFit/>
          </a:bodyPr>
          <a:lstStyle/>
          <a:p>
            <a:pPr algn="l">
              <a:spcAft>
                <a:spcPts val="0"/>
              </a:spcAft>
            </a:pPr>
            <a:r>
              <a:rPr sz="1600" b="0" i="0">
                <a:solidFill>
                  <a:srgbClr val="0B3B3C"/>
                </a:solidFill>
                <a:latin typeface="Calibri"/>
              </a:rPr>
              <a:t>Notify reporters once the platform notification contract exists</a:t>
            </a:r>
          </a:p>
        </p:txBody>
      </p:sp>
      <p:sp>
        <p:nvSpPr>
          <p:cNvPr id="17" name="Rounded Rectangle 16"/>
          <p:cNvSpPr/>
          <p:nvPr/>
        </p:nvSpPr>
        <p:spPr>
          <a:xfrm>
            <a:off x="548640" y="3529584"/>
            <a:ext cx="5120640" cy="731520"/>
          </a:xfrm>
          <a:prstGeom prst="roundRect">
            <a:avLst>
              <a:gd name="adj" fmla="val 6000"/>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529584"/>
            <a:ext cx="4754880" cy="731520"/>
          </a:xfrm>
          <a:prstGeom prst="rect">
            <a:avLst/>
          </a:prstGeom>
          <a:noFill/>
        </p:spPr>
        <p:txBody>
          <a:bodyPr wrap="square" lIns="0" rIns="0" tIns="0" bIns="0" anchor="ctr">
            <a:spAutoFit/>
          </a:bodyPr>
          <a:lstStyle/>
          <a:p>
            <a:pPr algn="l">
              <a:spcAft>
                <a:spcPts val="0"/>
              </a:spcAft>
            </a:pPr>
            <a:r>
              <a:rPr sz="1600" b="1" i="0">
                <a:solidFill>
                  <a:srgbClr val="1F2A30"/>
                </a:solidFill>
                <a:latin typeface="Calibri"/>
              </a:rPr>
              <a:t>Coordinates entered by hand</a:t>
            </a:r>
          </a:p>
        </p:txBody>
      </p:sp>
      <p:sp>
        <p:nvSpPr>
          <p:cNvPr id="19" name="TextBox 18"/>
          <p:cNvSpPr txBox="1"/>
          <p:nvPr/>
        </p:nvSpPr>
        <p:spPr>
          <a:xfrm>
            <a:off x="5715000" y="3529584"/>
            <a:ext cx="548640" cy="731520"/>
          </a:xfrm>
          <a:prstGeom prst="rect">
            <a:avLst/>
          </a:prstGeom>
          <a:noFill/>
        </p:spPr>
        <p:txBody>
          <a:bodyPr wrap="square" lIns="0" rIns="0" tIns="0" bIns="0" anchor="ctr">
            <a:spAutoFit/>
          </a:bodyPr>
          <a:lstStyle/>
          <a:p>
            <a:pPr algn="ctr">
              <a:spcAft>
                <a:spcPts val="0"/>
              </a:spcAft>
            </a:pPr>
            <a:r>
              <a:rPr sz="2200" b="1" i="0">
                <a:solidFill>
                  <a:srgbClr val="0F7B6C"/>
                </a:solidFill>
                <a:latin typeface="Calibri"/>
              </a:rPr>
              <a:t>→</a:t>
            </a:r>
          </a:p>
        </p:txBody>
      </p:sp>
      <p:sp>
        <p:nvSpPr>
          <p:cNvPr id="20" name="Rounded Rectangle 19"/>
          <p:cNvSpPr/>
          <p:nvPr/>
        </p:nvSpPr>
        <p:spPr>
          <a:xfrm>
            <a:off x="6309360" y="3529584"/>
            <a:ext cx="5303520" cy="73152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3529584"/>
            <a:ext cx="4937760" cy="731520"/>
          </a:xfrm>
          <a:prstGeom prst="rect">
            <a:avLst/>
          </a:prstGeom>
          <a:noFill/>
        </p:spPr>
        <p:txBody>
          <a:bodyPr wrap="square" lIns="0" rIns="0" tIns="0" bIns="0" anchor="ctr">
            <a:spAutoFit/>
          </a:bodyPr>
          <a:lstStyle/>
          <a:p>
            <a:pPr algn="l">
              <a:spcAft>
                <a:spcPts val="0"/>
              </a:spcAft>
            </a:pPr>
            <a:r>
              <a:rPr sz="1600" b="0" i="0">
                <a:solidFill>
                  <a:srgbClr val="0B3B3C"/>
                </a:solidFill>
                <a:latin typeface="Calibri"/>
              </a:rPr>
              <a:t>Geocoding with source attribution</a:t>
            </a:r>
          </a:p>
        </p:txBody>
      </p:sp>
      <p:sp>
        <p:nvSpPr>
          <p:cNvPr id="22" name="Rounded Rectangle 21"/>
          <p:cNvSpPr/>
          <p:nvPr/>
        </p:nvSpPr>
        <p:spPr>
          <a:xfrm>
            <a:off x="548640" y="4425696"/>
            <a:ext cx="5120640" cy="731520"/>
          </a:xfrm>
          <a:prstGeom prst="roundRect">
            <a:avLst>
              <a:gd name="adj" fmla="val 6000"/>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425696"/>
            <a:ext cx="4754880" cy="731520"/>
          </a:xfrm>
          <a:prstGeom prst="rect">
            <a:avLst/>
          </a:prstGeom>
          <a:noFill/>
        </p:spPr>
        <p:txBody>
          <a:bodyPr wrap="square" lIns="0" rIns="0" tIns="0" bIns="0" anchor="ctr">
            <a:spAutoFit/>
          </a:bodyPr>
          <a:lstStyle/>
          <a:p>
            <a:pPr algn="l">
              <a:spcAft>
                <a:spcPts val="0"/>
              </a:spcAft>
            </a:pPr>
            <a:r>
              <a:rPr sz="1600" b="1" i="0">
                <a:solidFill>
                  <a:srgbClr val="1F2A30"/>
                </a:solidFill>
                <a:latin typeface="Calibri"/>
              </a:rPr>
              <a:t>One locality per society</a:t>
            </a:r>
          </a:p>
        </p:txBody>
      </p:sp>
      <p:sp>
        <p:nvSpPr>
          <p:cNvPr id="24" name="TextBox 23"/>
          <p:cNvSpPr txBox="1"/>
          <p:nvPr/>
        </p:nvSpPr>
        <p:spPr>
          <a:xfrm>
            <a:off x="5715000" y="4425696"/>
            <a:ext cx="548640" cy="731520"/>
          </a:xfrm>
          <a:prstGeom prst="rect">
            <a:avLst/>
          </a:prstGeom>
          <a:noFill/>
        </p:spPr>
        <p:txBody>
          <a:bodyPr wrap="square" lIns="0" rIns="0" tIns="0" bIns="0" anchor="ctr">
            <a:spAutoFit/>
          </a:bodyPr>
          <a:lstStyle/>
          <a:p>
            <a:pPr algn="ctr">
              <a:spcAft>
                <a:spcPts val="0"/>
              </a:spcAft>
            </a:pPr>
            <a:r>
              <a:rPr sz="2200" b="1" i="0">
                <a:solidFill>
                  <a:srgbClr val="0F7B6C"/>
                </a:solidFill>
                <a:latin typeface="Calibri"/>
              </a:rPr>
              <a:t>→</a:t>
            </a:r>
          </a:p>
        </p:txBody>
      </p:sp>
      <p:sp>
        <p:nvSpPr>
          <p:cNvPr id="25" name="Rounded Rectangle 24"/>
          <p:cNvSpPr/>
          <p:nvPr/>
        </p:nvSpPr>
        <p:spPr>
          <a:xfrm>
            <a:off x="6309360" y="4425696"/>
            <a:ext cx="5303520" cy="73152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4425696"/>
            <a:ext cx="4937760" cy="731520"/>
          </a:xfrm>
          <a:prstGeom prst="rect">
            <a:avLst/>
          </a:prstGeom>
          <a:noFill/>
        </p:spPr>
        <p:txBody>
          <a:bodyPr wrap="square" lIns="0" rIns="0" tIns="0" bIns="0" anchor="ctr">
            <a:spAutoFit/>
          </a:bodyPr>
          <a:lstStyle/>
          <a:p>
            <a:pPr algn="l">
              <a:spcAft>
                <a:spcPts val="0"/>
              </a:spcAft>
            </a:pPr>
            <a:r>
              <a:rPr sz="1600" b="0" i="0">
                <a:solidFill>
                  <a:srgbClr val="0B3B3C"/>
                </a:solidFill>
                <a:latin typeface="Calibri"/>
              </a:rPr>
              <a:t>Support multiple coverage areas</a:t>
            </a:r>
          </a:p>
        </p:txBody>
      </p:sp>
      <p:sp>
        <p:nvSpPr>
          <p:cNvPr id="27" name="Rounded Rectangle 26"/>
          <p:cNvSpPr/>
          <p:nvPr/>
        </p:nvSpPr>
        <p:spPr>
          <a:xfrm>
            <a:off x="548640" y="5321808"/>
            <a:ext cx="5120640" cy="731520"/>
          </a:xfrm>
          <a:prstGeom prst="roundRect">
            <a:avLst>
              <a:gd name="adj" fmla="val 6000"/>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21808"/>
            <a:ext cx="4754880" cy="731520"/>
          </a:xfrm>
          <a:prstGeom prst="rect">
            <a:avLst/>
          </a:prstGeom>
          <a:noFill/>
        </p:spPr>
        <p:txBody>
          <a:bodyPr wrap="square" lIns="0" rIns="0" tIns="0" bIns="0" anchor="ctr">
            <a:spAutoFit/>
          </a:bodyPr>
          <a:lstStyle/>
          <a:p>
            <a:pPr algn="l">
              <a:spcAft>
                <a:spcPts val="0"/>
              </a:spcAft>
            </a:pPr>
            <a:r>
              <a:rPr sz="1600" b="1" i="0">
                <a:solidFill>
                  <a:srgbClr val="1F2A30"/>
                </a:solidFill>
                <a:latin typeface="Calibri"/>
              </a:rPr>
              <a:t>Simple ILIKE search</a:t>
            </a:r>
          </a:p>
        </p:txBody>
      </p:sp>
      <p:sp>
        <p:nvSpPr>
          <p:cNvPr id="29" name="TextBox 28"/>
          <p:cNvSpPr txBox="1"/>
          <p:nvPr/>
        </p:nvSpPr>
        <p:spPr>
          <a:xfrm>
            <a:off x="5715000" y="5321808"/>
            <a:ext cx="548640" cy="731520"/>
          </a:xfrm>
          <a:prstGeom prst="rect">
            <a:avLst/>
          </a:prstGeom>
          <a:noFill/>
        </p:spPr>
        <p:txBody>
          <a:bodyPr wrap="square" lIns="0" rIns="0" tIns="0" bIns="0" anchor="ctr">
            <a:spAutoFit/>
          </a:bodyPr>
          <a:lstStyle/>
          <a:p>
            <a:pPr algn="ctr">
              <a:spcAft>
                <a:spcPts val="0"/>
              </a:spcAft>
            </a:pPr>
            <a:r>
              <a:rPr sz="2200" b="1" i="0">
                <a:solidFill>
                  <a:srgbClr val="0F7B6C"/>
                </a:solidFill>
                <a:latin typeface="Calibri"/>
              </a:rPr>
              <a:t>→</a:t>
            </a:r>
          </a:p>
        </p:txBody>
      </p:sp>
      <p:sp>
        <p:nvSpPr>
          <p:cNvPr id="30" name="Rounded Rectangle 29"/>
          <p:cNvSpPr/>
          <p:nvPr/>
        </p:nvSpPr>
        <p:spPr>
          <a:xfrm>
            <a:off x="6309360" y="5321808"/>
            <a:ext cx="5303520" cy="731520"/>
          </a:xfrm>
          <a:prstGeom prst="roundRect">
            <a:avLst>
              <a:gd name="adj" fmla="val 6000"/>
            </a:avLst>
          </a:prstGeom>
          <a:solidFill>
            <a:srgbClr val="E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7960" y="5321808"/>
            <a:ext cx="4937760" cy="731520"/>
          </a:xfrm>
          <a:prstGeom prst="rect">
            <a:avLst/>
          </a:prstGeom>
          <a:noFill/>
        </p:spPr>
        <p:txBody>
          <a:bodyPr wrap="square" lIns="0" rIns="0" tIns="0" bIns="0" anchor="ctr">
            <a:spAutoFit/>
          </a:bodyPr>
          <a:lstStyle/>
          <a:p>
            <a:pPr algn="l">
              <a:spcAft>
                <a:spcPts val="0"/>
              </a:spcAft>
            </a:pPr>
            <a:r>
              <a:rPr sz="1600" b="0" i="0">
                <a:solidFill>
                  <a:srgbClr val="0B3B3C"/>
                </a:solidFill>
                <a:latin typeface="Calibri"/>
              </a:rPr>
              <a:t>PostgreSQL full-text search with ranking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3B3C"/>
        </a:solidFill>
        <a:effectLst/>
      </p:bgPr>
    </p:bg>
    <p:spTree>
      <p:nvGrpSpPr>
        <p:cNvPr id="1" name=""/>
        <p:cNvGrpSpPr/>
        <p:nvPr/>
      </p:nvGrpSpPr>
      <p:grpSpPr/>
      <p:sp>
        <p:nvSpPr>
          <p:cNvPr id="2" name="TextBox 1"/>
          <p:cNvSpPr txBox="1"/>
          <p:nvPr/>
        </p:nvSpPr>
        <p:spPr>
          <a:xfrm>
            <a:off x="731520" y="1371600"/>
            <a:ext cx="6400800" cy="1097280"/>
          </a:xfrm>
          <a:prstGeom prst="rect">
            <a:avLst/>
          </a:prstGeom>
          <a:noFill/>
        </p:spPr>
        <p:txBody>
          <a:bodyPr wrap="square" lIns="0" rIns="0" tIns="0" bIns="0" anchor="t">
            <a:spAutoFit/>
          </a:bodyPr>
          <a:lstStyle/>
          <a:p>
            <a:pPr algn="l">
              <a:spcAft>
                <a:spcPts val="0"/>
              </a:spcAft>
            </a:pPr>
            <a:r>
              <a:rPr sz="5400" b="1" i="0">
                <a:solidFill>
                  <a:srgbClr val="FFFFFF"/>
                </a:solidFill>
                <a:latin typeface="Calibri"/>
              </a:rPr>
              <a:t>Thank you</a:t>
            </a:r>
          </a:p>
        </p:txBody>
      </p:sp>
      <p:sp>
        <p:nvSpPr>
          <p:cNvPr id="3" name="TextBox 2"/>
          <p:cNvSpPr txBox="1"/>
          <p:nvPr/>
        </p:nvSpPr>
        <p:spPr>
          <a:xfrm>
            <a:off x="731520" y="2514600"/>
            <a:ext cx="6400800" cy="548640"/>
          </a:xfrm>
          <a:prstGeom prst="rect">
            <a:avLst/>
          </a:prstGeom>
          <a:noFill/>
        </p:spPr>
        <p:txBody>
          <a:bodyPr wrap="square" lIns="0" rIns="0" tIns="0" bIns="0" anchor="t">
            <a:spAutoFit/>
          </a:bodyPr>
          <a:lstStyle/>
          <a:p>
            <a:pPr algn="l">
              <a:spcAft>
                <a:spcPts val="0"/>
              </a:spcAft>
            </a:pPr>
            <a:r>
              <a:rPr sz="2800" b="0" i="0">
                <a:solidFill>
                  <a:srgbClr val="C9E4DD"/>
                </a:solidFill>
                <a:latin typeface="Calibri"/>
              </a:rPr>
              <a:t>Questions?</a:t>
            </a:r>
          </a:p>
        </p:txBody>
      </p:sp>
      <p:sp>
        <p:nvSpPr>
          <p:cNvPr id="4" name="TextBox 3"/>
          <p:cNvSpPr txBox="1"/>
          <p:nvPr/>
        </p:nvSpPr>
        <p:spPr>
          <a:xfrm>
            <a:off x="731520" y="5669280"/>
            <a:ext cx="6400800" cy="457200"/>
          </a:xfrm>
          <a:prstGeom prst="rect">
            <a:avLst/>
          </a:prstGeom>
          <a:noFill/>
        </p:spPr>
        <p:txBody>
          <a:bodyPr wrap="square" lIns="0" rIns="0" tIns="0" bIns="0" anchor="t">
            <a:spAutoFit/>
          </a:bodyPr>
          <a:lstStyle/>
          <a:p>
            <a:pPr algn="l">
              <a:spcAft>
                <a:spcPts val="0"/>
              </a:spcAft>
            </a:pPr>
            <a:r>
              <a:rPr sz="1400" b="0" i="0">
                <a:solidFill>
                  <a:srgbClr val="C9E4DD"/>
                </a:solidFill>
                <a:latin typeface="Calibri"/>
              </a:rPr>
              <a:t>All locality data in the demo is fictional demonstration data.</a:t>
            </a:r>
          </a:p>
        </p:txBody>
      </p:sp>
      <p:sp>
        <p:nvSpPr>
          <p:cNvPr id="5" name="Rounded Rectangle 4"/>
          <p:cNvSpPr/>
          <p:nvPr/>
        </p:nvSpPr>
        <p:spPr>
          <a:xfrm>
            <a:off x="6949440" y="1371600"/>
            <a:ext cx="4526280" cy="3931920"/>
          </a:xfrm>
          <a:prstGeom prst="roundRect">
            <a:avLst>
              <a:gd name="adj" fmla="val 6000"/>
            </a:avLst>
          </a:prstGeom>
          <a:solidFill>
            <a:srgbClr val="165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9480" y="1600200"/>
            <a:ext cx="3931920" cy="411480"/>
          </a:xfrm>
          <a:prstGeom prst="rect">
            <a:avLst/>
          </a:prstGeom>
          <a:noFill/>
        </p:spPr>
        <p:txBody>
          <a:bodyPr wrap="square" lIns="0" rIns="0" tIns="0" bIns="0" anchor="t">
            <a:spAutoFit/>
          </a:bodyPr>
          <a:lstStyle/>
          <a:p>
            <a:pPr algn="l">
              <a:spcAft>
                <a:spcPts val="0"/>
              </a:spcAft>
            </a:pPr>
            <a:r>
              <a:rPr sz="2000" b="1" i="0">
                <a:solidFill>
                  <a:srgbClr val="FFFFFF"/>
                </a:solidFill>
                <a:latin typeface="Calibri"/>
              </a:rPr>
              <a:t>Demo accounts</a:t>
            </a:r>
          </a:p>
        </p:txBody>
      </p:sp>
      <p:sp>
        <p:nvSpPr>
          <p:cNvPr id="7" name="TextBox 6"/>
          <p:cNvSpPr txBox="1"/>
          <p:nvPr/>
        </p:nvSpPr>
        <p:spPr>
          <a:xfrm>
            <a:off x="7269480" y="2240280"/>
            <a:ext cx="3931920" cy="868680"/>
          </a:xfrm>
          <a:prstGeom prst="rect">
            <a:avLst/>
          </a:prstGeom>
          <a:noFill/>
        </p:spPr>
        <p:txBody>
          <a:bodyPr wrap="square" lIns="0" rIns="0" tIns="0" bIns="0" anchor="t">
            <a:spAutoFit/>
          </a:bodyPr>
          <a:lstStyle/>
          <a:p>
            <a:pPr algn="l">
              <a:spcAft>
                <a:spcPts val="200"/>
              </a:spcAft>
            </a:pPr>
            <a:r>
              <a:rPr sz="1500" b="1" i="0">
                <a:solidFill>
                  <a:srgbClr val="C9E4DD"/>
                </a:solidFill>
                <a:latin typeface="Calibri"/>
              </a:rPr>
              <a:t>Resident</a:t>
            </a:r>
          </a:p>
          <a:p>
            <a:pPr algn="l">
              <a:spcAft>
                <a:spcPts val="200"/>
              </a:spcAft>
            </a:pPr>
            <a:r>
              <a:rPr sz="1500" b="0" i="0">
                <a:solidFill>
                  <a:srgbClr val="FFFFFF"/>
                </a:solidFill>
                <a:latin typeface="Consolas"/>
              </a:rPr>
              <a:t>rahul@greenvalley.test</a:t>
            </a:r>
          </a:p>
        </p:txBody>
      </p:sp>
      <p:sp>
        <p:nvSpPr>
          <p:cNvPr id="8" name="TextBox 7"/>
          <p:cNvSpPr txBox="1"/>
          <p:nvPr/>
        </p:nvSpPr>
        <p:spPr>
          <a:xfrm>
            <a:off x="7269480" y="3200400"/>
            <a:ext cx="3931920" cy="868680"/>
          </a:xfrm>
          <a:prstGeom prst="rect">
            <a:avLst/>
          </a:prstGeom>
          <a:noFill/>
        </p:spPr>
        <p:txBody>
          <a:bodyPr wrap="square" lIns="0" rIns="0" tIns="0" bIns="0" anchor="t">
            <a:spAutoFit/>
          </a:bodyPr>
          <a:lstStyle/>
          <a:p>
            <a:pPr algn="l">
              <a:spcAft>
                <a:spcPts val="200"/>
              </a:spcAft>
            </a:pPr>
            <a:r>
              <a:rPr sz="1500" b="1" i="0">
                <a:solidFill>
                  <a:srgbClr val="C9E4DD"/>
                </a:solidFill>
                <a:latin typeface="Calibri"/>
              </a:rPr>
              <a:t>Locality Coordinator</a:t>
            </a:r>
          </a:p>
          <a:p>
            <a:pPr algn="l">
              <a:spcAft>
                <a:spcPts val="200"/>
              </a:spcAft>
            </a:pPr>
            <a:r>
              <a:rPr sz="1500" b="0" i="0">
                <a:solidFill>
                  <a:srgbClr val="FFFFFF"/>
                </a:solidFill>
                <a:latin typeface="Consolas"/>
              </a:rPr>
              <a:t>kavya@greenvalley.test</a:t>
            </a:r>
          </a:p>
        </p:txBody>
      </p:sp>
      <p:sp>
        <p:nvSpPr>
          <p:cNvPr id="9" name="TextBox 8"/>
          <p:cNvSpPr txBox="1"/>
          <p:nvPr/>
        </p:nvSpPr>
        <p:spPr>
          <a:xfrm>
            <a:off x="7269480" y="4160520"/>
            <a:ext cx="3931920" cy="868680"/>
          </a:xfrm>
          <a:prstGeom prst="rect">
            <a:avLst/>
          </a:prstGeom>
          <a:noFill/>
        </p:spPr>
        <p:txBody>
          <a:bodyPr wrap="square" lIns="0" rIns="0" tIns="0" bIns="0" anchor="t">
            <a:spAutoFit/>
          </a:bodyPr>
          <a:lstStyle/>
          <a:p>
            <a:pPr algn="l">
              <a:spcAft>
                <a:spcPts val="200"/>
              </a:spcAft>
            </a:pPr>
            <a:r>
              <a:rPr sz="1500" b="1" i="0">
                <a:solidFill>
                  <a:srgbClr val="C9E4DD"/>
                </a:solidFill>
                <a:latin typeface="Calibri"/>
              </a:rPr>
              <a:t>Society Admin</a:t>
            </a:r>
          </a:p>
          <a:p>
            <a:pPr algn="l">
              <a:spcAft>
                <a:spcPts val="200"/>
              </a:spcAft>
            </a:pPr>
            <a:r>
              <a:rPr sz="1500" b="0" i="0">
                <a:solidFill>
                  <a:srgbClr val="FFFFFF"/>
                </a:solidFill>
                <a:latin typeface="Consolas"/>
              </a:rPr>
              <a:t>admin@greenvalley.test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KNOWALL Module 4 — Locality Intelligence &amp; Community Discovery</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